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8" r:id="rId3"/>
    <p:sldId id="257" r:id="rId4"/>
    <p:sldId id="258" r:id="rId5"/>
    <p:sldId id="259" r:id="rId6"/>
    <p:sldId id="273" r:id="rId7"/>
    <p:sldId id="260" r:id="rId8"/>
    <p:sldId id="278" r:id="rId9"/>
    <p:sldId id="275" r:id="rId10"/>
    <p:sldId id="261" r:id="rId11"/>
    <p:sldId id="276" r:id="rId12"/>
    <p:sldId id="277" r:id="rId13"/>
    <p:sldId id="269" r:id="rId14"/>
    <p:sldId id="262" r:id="rId15"/>
    <p:sldId id="280" r:id="rId16"/>
    <p:sldId id="274" r:id="rId17"/>
    <p:sldId id="279" r:id="rId18"/>
    <p:sldId id="270" r:id="rId19"/>
    <p:sldId id="263" r:id="rId20"/>
    <p:sldId id="271" r:id="rId21"/>
    <p:sldId id="264" r:id="rId22"/>
    <p:sldId id="281" r:id="rId23"/>
    <p:sldId id="282" r:id="rId24"/>
    <p:sldId id="272" r:id="rId25"/>
    <p:sldId id="265" r:id="rId26"/>
    <p:sldId id="283" r:id="rId27"/>
    <p:sldId id="266" r:id="rId28"/>
    <p:sldId id="267"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B6C9CCB-AACF-9A28-DE6F-442B230D34EF}">
          <p14:sldIdLst>
            <p14:sldId id="256"/>
            <p14:sldId id="268"/>
            <p14:sldId id="257"/>
          </p14:sldIdLst>
        </p14:section>
        <p14:section name="Diseño" id="{29FDE193-439A-C5DB-6CEE-6E4049A70C5F}">
          <p14:sldIdLst>
            <p14:sldId id="258"/>
            <p14:sldId id="259"/>
            <p14:sldId id="273"/>
            <p14:sldId id="260"/>
            <p14:sldId id="278"/>
            <p14:sldId id="275"/>
            <p14:sldId id="261"/>
            <p14:sldId id="276"/>
            <p14:sldId id="277"/>
            <p14:sldId id="269"/>
            <p14:sldId id="262"/>
            <p14:sldId id="280"/>
            <p14:sldId id="274"/>
            <p14:sldId id="279"/>
            <p14:sldId id="270"/>
            <p14:sldId id="263"/>
            <p14:sldId id="271"/>
            <p14:sldId id="264"/>
            <p14:sldId id="281"/>
            <p14:sldId id="282"/>
            <p14:sldId id="272"/>
          </p14:sldIdLst>
        </p14:section>
        <p14:section name="Resultados" id="{9DC1C459-CD62-71D0-34A1-315218D7F07A}">
          <p14:sldIdLst>
            <p14:sldId id="265"/>
            <p14:sldId id="283"/>
            <p14:sldId id="266"/>
            <p14:sldId id="267"/>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τ = 68 ms</c:v>
                </c:pt>
              </c:strCache>
            </c:strRef>
          </c:tx>
          <c:spPr>
            <a:ln w="31750" cap="flat">
              <a:solidFill>
                <a:srgbClr val="9DC9C6"/>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Sheet1!$B$2:$B$19</c:f>
              <c:numCache>
                <c:formatCode>General</c:formatCode>
                <c:ptCount val="18"/>
                <c:pt idx="0">
                  <c:v>413</c:v>
                </c:pt>
                <c:pt idx="1">
                  <c:v>364</c:v>
                </c:pt>
                <c:pt idx="2">
                  <c:v>333</c:v>
                </c:pt>
                <c:pt idx="3">
                  <c:v>312</c:v>
                </c:pt>
                <c:pt idx="4">
                  <c:v>296</c:v>
                </c:pt>
                <c:pt idx="5">
                  <c:v>283</c:v>
                </c:pt>
                <c:pt idx="6">
                  <c:v>273</c:v>
                </c:pt>
                <c:pt idx="7">
                  <c:v>264</c:v>
                </c:pt>
                <c:pt idx="8">
                  <c:v>257</c:v>
                </c:pt>
                <c:pt idx="9">
                  <c:v>250</c:v>
                </c:pt>
                <c:pt idx="10">
                  <c:v>245</c:v>
                </c:pt>
                <c:pt idx="11">
                  <c:v>240</c:v>
                </c:pt>
                <c:pt idx="12">
                  <c:v>236</c:v>
                </c:pt>
                <c:pt idx="13">
                  <c:v>232</c:v>
                </c:pt>
                <c:pt idx="14">
                  <c:v>228</c:v>
                </c:pt>
                <c:pt idx="15">
                  <c:v>225</c:v>
                </c:pt>
                <c:pt idx="16">
                  <c:v>222</c:v>
                </c:pt>
                <c:pt idx="17">
                  <c:v>219</c:v>
                </c:pt>
              </c:numCache>
            </c:numRef>
          </c:val>
          <c:smooth val="0"/>
          <c:extLst>
            <c:ext xmlns:c16="http://schemas.microsoft.com/office/drawing/2014/chart" uri="{C3380CC4-5D6E-409C-BE32-E72D297353CC}">
              <c16:uniqueId val="{00000000-6103-4B3C-AE18-97C9457DDD60}"/>
            </c:ext>
          </c:extLst>
        </c:ser>
        <c:ser>
          <c:idx val="1"/>
          <c:order val="1"/>
          <c:tx>
            <c:strRef>
              <c:f>Sheet1!$C$1</c:f>
              <c:strCache>
                <c:ptCount val="1"/>
                <c:pt idx="0">
                  <c:v>τ = 100 ms (diseño)</c:v>
                </c:pt>
              </c:strCache>
            </c:strRef>
          </c:tx>
          <c:spPr>
            <a:ln w="31750" cap="flat">
              <a:solidFill>
                <a:srgbClr val="0E8C88"/>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Sheet1!$C$2:$C$19</c:f>
              <c:numCache>
                <c:formatCode>General</c:formatCode>
                <c:ptCount val="18"/>
                <c:pt idx="0">
                  <c:v>336</c:v>
                </c:pt>
                <c:pt idx="1">
                  <c:v>290</c:v>
                </c:pt>
                <c:pt idx="2">
                  <c:v>262</c:v>
                </c:pt>
                <c:pt idx="3">
                  <c:v>242</c:v>
                </c:pt>
                <c:pt idx="4">
                  <c:v>228</c:v>
                </c:pt>
                <c:pt idx="5">
                  <c:v>217</c:v>
                </c:pt>
                <c:pt idx="6">
                  <c:v>208</c:v>
                </c:pt>
                <c:pt idx="7">
                  <c:v>201</c:v>
                </c:pt>
                <c:pt idx="8">
                  <c:v>195</c:v>
                </c:pt>
                <c:pt idx="9">
                  <c:v>189</c:v>
                </c:pt>
                <c:pt idx="10">
                  <c:v>185</c:v>
                </c:pt>
                <c:pt idx="11">
                  <c:v>181</c:v>
                </c:pt>
                <c:pt idx="12">
                  <c:v>177</c:v>
                </c:pt>
                <c:pt idx="13">
                  <c:v>174</c:v>
                </c:pt>
                <c:pt idx="14">
                  <c:v>171</c:v>
                </c:pt>
                <c:pt idx="15">
                  <c:v>168</c:v>
                </c:pt>
                <c:pt idx="16">
                  <c:v>165</c:v>
                </c:pt>
                <c:pt idx="17">
                  <c:v>163</c:v>
                </c:pt>
              </c:numCache>
            </c:numRef>
          </c:val>
          <c:smooth val="0"/>
          <c:extLst>
            <c:ext xmlns:c16="http://schemas.microsoft.com/office/drawing/2014/chart" uri="{C3380CC4-5D6E-409C-BE32-E72D297353CC}">
              <c16:uniqueId val="{00000001-6103-4B3C-AE18-97C9457DDD60}"/>
            </c:ext>
          </c:extLst>
        </c:ser>
        <c:ser>
          <c:idx val="2"/>
          <c:order val="2"/>
          <c:tx>
            <c:strRef>
              <c:f>Sheet1!$D$1</c:f>
              <c:strCache>
                <c:ptCount val="1"/>
                <c:pt idx="0">
                  <c:v>τ = 150 ms</c:v>
                </c:pt>
              </c:strCache>
            </c:strRef>
          </c:tx>
          <c:spPr>
            <a:ln w="31750" cap="flat">
              <a:solidFill>
                <a:srgbClr val="E4572E"/>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Sheet1!$D$2:$D$19</c:f>
              <c:numCache>
                <c:formatCode>General</c:formatCode>
                <c:ptCount val="18"/>
                <c:pt idx="0">
                  <c:v>261</c:v>
                </c:pt>
                <c:pt idx="1">
                  <c:v>220</c:v>
                </c:pt>
                <c:pt idx="2">
                  <c:v>196</c:v>
                </c:pt>
                <c:pt idx="3">
                  <c:v>180</c:v>
                </c:pt>
                <c:pt idx="4">
                  <c:v>168</c:v>
                </c:pt>
                <c:pt idx="5">
                  <c:v>159</c:v>
                </c:pt>
                <c:pt idx="6">
                  <c:v>152</c:v>
                </c:pt>
                <c:pt idx="7">
                  <c:v>146</c:v>
                </c:pt>
                <c:pt idx="8">
                  <c:v>141</c:v>
                </c:pt>
                <c:pt idx="9">
                  <c:v>137</c:v>
                </c:pt>
                <c:pt idx="10">
                  <c:v>133</c:v>
                </c:pt>
                <c:pt idx="11">
                  <c:v>130</c:v>
                </c:pt>
                <c:pt idx="12">
                  <c:v>127</c:v>
                </c:pt>
                <c:pt idx="13">
                  <c:v>125</c:v>
                </c:pt>
                <c:pt idx="14">
                  <c:v>122</c:v>
                </c:pt>
                <c:pt idx="15">
                  <c:v>120</c:v>
                </c:pt>
                <c:pt idx="16">
                  <c:v>118</c:v>
                </c:pt>
                <c:pt idx="17">
                  <c:v>117</c:v>
                </c:pt>
              </c:numCache>
            </c:numRef>
          </c:val>
          <c:smooth val="0"/>
          <c:extLst>
            <c:ext xmlns:c16="http://schemas.microsoft.com/office/drawing/2014/chart" uri="{C3380CC4-5D6E-409C-BE32-E72D297353CC}">
              <c16:uniqueId val="{00000002-6103-4B3C-AE18-97C9457DDD60}"/>
            </c:ext>
          </c:extLst>
        </c:ser>
        <c:ser>
          <c:idx val="3"/>
          <c:order val="3"/>
          <c:tx>
            <c:strRef>
              <c:f>Sheet1!$E$1</c:f>
              <c:strCache>
                <c:ptCount val="1"/>
                <c:pt idx="0">
                  <c:v>Objetivo 150 lpm</c:v>
                </c:pt>
              </c:strCache>
            </c:strRef>
          </c:tx>
          <c:spPr>
            <a:ln w="31750" cap="flat">
              <a:solidFill>
                <a:srgbClr val="9AA7B0"/>
              </a:solidFill>
              <a:prstDash val="solid"/>
              <a:round/>
            </a:ln>
            <a:effectLst/>
          </c:spPr>
          <c:marker>
            <c:symbol val="none"/>
          </c:marker>
          <c:cat>
            <c:strRef>
              <c:f>Sheet1!$A$2:$A$19</c:f>
              <c:strCache>
                <c:ptCount val="18"/>
                <c:pt idx="0">
                  <c:v>0,3</c:v>
                </c:pt>
                <c:pt idx="1">
                  <c:v>0,4</c:v>
                </c:pt>
                <c:pt idx="2">
                  <c:v>0,5</c:v>
                </c:pt>
                <c:pt idx="3">
                  <c:v>0,6</c:v>
                </c:pt>
                <c:pt idx="4">
                  <c:v>0,7</c:v>
                </c:pt>
                <c:pt idx="5">
                  <c:v>0,8</c:v>
                </c:pt>
                <c:pt idx="6">
                  <c:v>0,9</c:v>
                </c:pt>
                <c:pt idx="7">
                  <c:v>1,0</c:v>
                </c:pt>
                <c:pt idx="8">
                  <c:v>1,1</c:v>
                </c:pt>
                <c:pt idx="9">
                  <c:v>1,2</c:v>
                </c:pt>
                <c:pt idx="10">
                  <c:v>1,3</c:v>
                </c:pt>
                <c:pt idx="11">
                  <c:v>1,4</c:v>
                </c:pt>
                <c:pt idx="12">
                  <c:v>1,5</c:v>
                </c:pt>
                <c:pt idx="13">
                  <c:v>1,6</c:v>
                </c:pt>
                <c:pt idx="14">
                  <c:v>1,7</c:v>
                </c:pt>
                <c:pt idx="15">
                  <c:v>1,8</c:v>
                </c:pt>
                <c:pt idx="16">
                  <c:v>1,9</c:v>
                </c:pt>
                <c:pt idx="17">
                  <c:v>2,0</c:v>
                </c:pt>
              </c:strCache>
            </c:strRef>
          </c:cat>
          <c:val>
            <c:numRef>
              <c:f>Sheet1!$E$2:$E$19</c:f>
              <c:numCache>
                <c:formatCode>General</c:formatCode>
                <c:ptCount val="18"/>
                <c:pt idx="0">
                  <c:v>150</c:v>
                </c:pt>
                <c:pt idx="1">
                  <c:v>150</c:v>
                </c:pt>
                <c:pt idx="2">
                  <c:v>150</c:v>
                </c:pt>
                <c:pt idx="3">
                  <c:v>150</c:v>
                </c:pt>
                <c:pt idx="4">
                  <c:v>150</c:v>
                </c:pt>
                <c:pt idx="5">
                  <c:v>150</c:v>
                </c:pt>
                <c:pt idx="6">
                  <c:v>150</c:v>
                </c:pt>
                <c:pt idx="7">
                  <c:v>150</c:v>
                </c:pt>
                <c:pt idx="8">
                  <c:v>150</c:v>
                </c:pt>
                <c:pt idx="9">
                  <c:v>150</c:v>
                </c:pt>
                <c:pt idx="10">
                  <c:v>150</c:v>
                </c:pt>
                <c:pt idx="11">
                  <c:v>150</c:v>
                </c:pt>
                <c:pt idx="12">
                  <c:v>150</c:v>
                </c:pt>
                <c:pt idx="13">
                  <c:v>150</c:v>
                </c:pt>
                <c:pt idx="14">
                  <c:v>150</c:v>
                </c:pt>
                <c:pt idx="15">
                  <c:v>150</c:v>
                </c:pt>
                <c:pt idx="16">
                  <c:v>150</c:v>
                </c:pt>
                <c:pt idx="17">
                  <c:v>150</c:v>
                </c:pt>
              </c:numCache>
            </c:numRef>
          </c:val>
          <c:smooth val="0"/>
          <c:extLst>
            <c:ext xmlns:c16="http://schemas.microsoft.com/office/drawing/2014/chart" uri="{C3380CC4-5D6E-409C-BE32-E72D297353CC}">
              <c16:uniqueId val="{00000003-6103-4B3C-AE18-97C9457DDD6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B7A8C"/>
                    </a:solidFill>
                    <a:latin typeface="+mn-lt"/>
                  </a:defRPr>
                </a:pPr>
                <a:r>
                  <a:rPr lang="es-CO" sz="1100" b="0" i="0" u="none" strike="noStrike">
                    <a:solidFill>
                      <a:srgbClr val="5B7A8C"/>
                    </a:solidFill>
                    <a:latin typeface="+mn-lt"/>
                  </a:rPr>
                  <a:t>Amplitud de entrada (Vpp)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A8C"/>
                </a:solidFill>
                <a:latin typeface="+mn-lt"/>
              </a:defRPr>
            </a:pPr>
            <a:endParaRPr lang="en-US"/>
          </a:p>
        </c:txPr>
        <c:crossAx val="2094734552"/>
        <c:crosses val="autoZero"/>
        <c:auto val="1"/>
        <c:lblAlgn val="ctr"/>
        <c:lblOffset val="100"/>
        <c:tickLblSkip val="3"/>
        <c:noMultiLvlLbl val="1"/>
      </c:catAx>
      <c:valAx>
        <c:axId val="2094734552"/>
        <c:scaling>
          <c:orientation val="minMax"/>
          <c:max val="400"/>
          <c:min val="0"/>
        </c:scaling>
        <c:delete val="0"/>
        <c:axPos val="l"/>
        <c:majorGridlines>
          <c:spPr>
            <a:ln w="9525" cap="flat">
              <a:solidFill>
                <a:srgbClr val="DDE5E8"/>
              </a:solidFill>
              <a:prstDash val="solid"/>
              <a:round/>
            </a:ln>
          </c:spPr>
        </c:majorGridlines>
        <c:title>
          <c:tx>
            <c:rich>
              <a:bodyPr/>
              <a:lstStyle/>
              <a:p>
                <a:pPr>
                  <a:defRPr sz="1100" b="0" i="0" u="none" strike="noStrike">
                    <a:solidFill>
                      <a:srgbClr val="5B7A8C"/>
                    </a:solidFill>
                    <a:latin typeface="+mn-lt"/>
                  </a:defRPr>
                </a:pPr>
                <a:r>
                  <a:rPr lang="es-CO" sz="1100" b="0" i="0" u="none" strike="noStrike">
                    <a:solidFill>
                      <a:srgbClr val="5B7A8C"/>
                    </a:solidFill>
                    <a:latin typeface="+mn-lt"/>
                  </a:rPr>
                  <a:t>FC máxima (lpm)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A8C"/>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17242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98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detector de latido: el objetivo es entregar un pulso limpio por cada complejo QRS usando solo amplificadores operacionales.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bloque resuelve un problema: el rectificador elimina la dependencia de la polaridad, el detector de pico une los lóbulos del QRS en un solo evento y el Schmitt convierte la envolvente en un pulso digital limpio.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fila: amplificador, rectificador de media onda y sumador. Segunda fila: detector de pico con buffer, comparador Schmitt y LED. El osciloscopio mide entrada, Vr, Venv y salida.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ganancia debe estar entre 4,04 (para superar el umbral con margen) y 5,25 (para no saturar). 39 k sobre 10 k da 4,9 con valores comerciales.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diodo está dentro del lazo: el op-amp mueve su salida 0,6 V extra y esa caída no aparece en Vhw. D1 evita que el op-amp se sature en el semiciclo negativo.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R4 entra la señal completa con peso 1 y por R5 la media onda con peso 2. En el semiciclo positivo eso voltea el signo; en el negativo solo actúa R4. Las resistencias deben ser al 1 %.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 mayor que 90 ms para no soltar el latido entre los lóbulos del QRS; menor que 110 ms para liberarse antes del siguiente latido a 150 lpm. El buffer evita que R8 descargue el condensador.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pico más grande tarda más en descargarse, por eso el límite baja con la amplitud. Con τ = 100 ms el peor caso (2 Vpp) queda en 163 lpm, por encima del objetivo de 150 lpm. La simulación confirmó que a 180 lpm con 2 Vpp el comparador se queda en alto.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Realimentación positiva: no hay corto virtual. VTH queda por debajo del pico mínimo (1,22 V) y VTL muy por encima del offset. La histéresis evita rebotes por ruido.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Pulso: la envolvente se mantiene y decae; la salida dura unos 400 ms. Seno: dos pulsos por ciclo, prueba de que se detectan ambas polaridades. Latido sintético: un solo pulso por latido aunque haya varios lóbulos y onda 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valores de Proteus coinciden con los calculados con errores de 1,6 % o menos. Falta comparar con las mediciones del montaje.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Mejoras posibles: amplificador de instrumentación con filtro pasa banda, umbral adaptativo y conteo de latidos con un microcontrolador.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8046720" cy="118872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
        <p:nvSpPr>
          <p:cNvPr id="3" name="Text 0"/>
          <p:cNvSpPr>
            <a:spLocks noGrp="1"/>
          </p:cNvSpPr>
          <p:nvPr>
            <p:ph type="body" idx="101" hasCustomPrompt="1"/>
          </p:nvPr>
        </p:nvSpPr>
        <p:spPr>
          <a:xfrm>
            <a:off x="548640" y="2514600"/>
            <a:ext cx="8046720" cy="548640"/>
          </a:xfrm>
          <a:prstGeom prst="rect">
            <a:avLst/>
          </a:prstGeom>
          <a:noFill/>
          <a:ln/>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buNone/>
              <a:defRPr lang="en-US" sz="3000" b="1" dirty="0">
                <a:solidFill>
                  <a:schemeClr val="tx2"/>
                </a:solidFill>
              </a:defRPr>
            </a:lvl1pPr>
          </a:lstStyle>
          <a:p>
            <a:pPr marL="0" indent="0">
              <a:buNone/>
            </a:pPr>
            <a:endParaRPr lang="en-US" sz="30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buNone/>
              <a:defRPr lang="en-US" sz="3000" b="1" dirty="0">
                <a:solidFill>
                  <a:schemeClr val="bg1"/>
                </a:solidFill>
              </a:defRPr>
            </a:lvl1pPr>
          </a:lstStyle>
          <a:p>
            <a:pPr marL="0" indent="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8046720" cy="1188720"/>
          </a:xfrm>
          <a:prstGeom prst="rect">
            <a:avLst/>
          </a:prstGeom>
          <a:noFill/>
          <a:ln/>
        </p:spPr>
        <p:txBody>
          <a:bodyPr wrap="square" lIns="0" tIns="0" rIns="0" bIns="0" rtlCol="0" anchor="b"/>
          <a:lstStyle/>
          <a:p>
            <a:pPr marL="0" indent="0">
              <a:buNone/>
            </a:pPr>
            <a:r>
              <a:rPr lang="en-US" sz="4000" b="1" dirty="0">
                <a:solidFill>
                  <a:schemeClr val="bg1"/>
                </a:solidFill>
              </a:rPr>
              <a:t>Detector ideal de latido ECG</a:t>
            </a:r>
            <a:endParaRPr lang="en-US" sz="4000" dirty="0"/>
          </a:p>
        </p:txBody>
      </p:sp>
      <p:sp>
        <p:nvSpPr>
          <p:cNvPr id="3" name="Text 0"/>
          <p:cNvSpPr>
            <a:spLocks noGrp="1"/>
          </p:cNvSpPr>
          <p:nvPr>
            <p:ph type="body" idx="101" hasCustomPrompt="1"/>
          </p:nvPr>
        </p:nvSpPr>
        <p:spPr>
          <a:xfrm>
            <a:off x="548640" y="2514600"/>
            <a:ext cx="8046720" cy="548640"/>
          </a:xfrm>
          <a:prstGeom prst="rect">
            <a:avLst/>
          </a:prstGeom>
          <a:noFill/>
          <a:ln/>
        </p:spPr>
        <p:txBody>
          <a:bodyPr wrap="square" lIns="0" tIns="0" rIns="0" bIns="0" rtlCol="0"/>
          <a:lstStyle/>
          <a:p>
            <a:pPr marL="0" indent="0">
              <a:buNone/>
            </a:pPr>
            <a:r>
              <a:rPr lang="en-US" sz="2000" dirty="0">
                <a:solidFill>
                  <a:schemeClr val="accent4"/>
                </a:solidFill>
              </a:rPr>
              <a:t>Rectificador de precisión · detector de pico · comparador Schmitt</a:t>
            </a:r>
            <a:endParaRPr lang="en-US" sz="2000" dirty="0"/>
          </a:p>
        </p:txBody>
      </p:sp>
      <p:sp>
        <p:nvSpPr>
          <p:cNvPr id="4" name="ECG 1"/>
          <p:cNvSpPr/>
          <p:nvPr/>
        </p:nvSpPr>
        <p:spPr>
          <a:xfrm>
            <a:off x="548640" y="3657600"/>
            <a:ext cx="2011680" cy="0"/>
          </a:xfrm>
          <a:prstGeom prst="line">
            <a:avLst/>
          </a:prstGeom>
          <a:noFill/>
          <a:ln w="31750">
            <a:solidFill>
              <a:schemeClr val="accent2"/>
            </a:solidFill>
            <a:prstDash val="solid"/>
          </a:ln>
        </p:spPr>
        <p:txBody>
          <a:bodyPr/>
          <a:p/>
        </p:txBody>
      </p:sp>
      <p:sp>
        <p:nvSpPr>
          <p:cNvPr id="5" name="ECG 2"/>
          <p:cNvSpPr/>
          <p:nvPr/>
        </p:nvSpPr>
        <p:spPr>
          <a:xfrm flipV="1">
            <a:off x="2560320" y="3246120"/>
            <a:ext cx="228600" cy="411480"/>
          </a:xfrm>
          <a:prstGeom prst="line">
            <a:avLst/>
          </a:prstGeom>
          <a:noFill/>
          <a:ln w="31750">
            <a:solidFill>
              <a:schemeClr val="accent2"/>
            </a:solidFill>
            <a:prstDash val="solid"/>
          </a:ln>
        </p:spPr>
        <p:txBody>
          <a:bodyPr/>
          <a:p/>
        </p:txBody>
      </p:sp>
      <p:sp>
        <p:nvSpPr>
          <p:cNvPr id="6" name="ECG 3"/>
          <p:cNvSpPr/>
          <p:nvPr/>
        </p:nvSpPr>
        <p:spPr>
          <a:xfrm>
            <a:off x="2788920" y="3246120"/>
            <a:ext cx="182880" cy="685800"/>
          </a:xfrm>
          <a:prstGeom prst="line">
            <a:avLst/>
          </a:prstGeom>
          <a:noFill/>
          <a:ln w="31750">
            <a:solidFill>
              <a:schemeClr val="accent2"/>
            </a:solidFill>
            <a:prstDash val="solid"/>
          </a:ln>
        </p:spPr>
        <p:txBody>
          <a:bodyPr/>
          <a:p/>
        </p:txBody>
      </p:sp>
      <p:sp>
        <p:nvSpPr>
          <p:cNvPr id="7" name="ECG 4"/>
          <p:cNvSpPr/>
          <p:nvPr/>
        </p:nvSpPr>
        <p:spPr>
          <a:xfrm flipV="1">
            <a:off x="2971800" y="3657600"/>
            <a:ext cx="137160" cy="274320"/>
          </a:xfrm>
          <a:prstGeom prst="line">
            <a:avLst/>
          </a:prstGeom>
          <a:noFill/>
          <a:ln w="31750">
            <a:solidFill>
              <a:schemeClr val="accent2"/>
            </a:solidFill>
            <a:prstDash val="solid"/>
          </a:ln>
        </p:spPr>
        <p:txBody>
          <a:bodyPr/>
          <a:p/>
        </p:txBody>
      </p:sp>
      <p:sp>
        <p:nvSpPr>
          <p:cNvPr id="8" name="ECG 5"/>
          <p:cNvSpPr/>
          <p:nvPr/>
        </p:nvSpPr>
        <p:spPr>
          <a:xfrm>
            <a:off x="3108960" y="3657600"/>
            <a:ext cx="5486400" cy="0"/>
          </a:xfrm>
          <a:prstGeom prst="line">
            <a:avLst/>
          </a:prstGeom>
          <a:noFill/>
          <a:ln w="31750">
            <a:solidFill>
              <a:schemeClr val="accent2"/>
            </a:solidFill>
            <a:prstDash val="solid"/>
          </a:ln>
        </p:spPr>
        <p:txBody>
          <a:bodyPr/>
          <a:p/>
        </p:txBody>
      </p:sp>
      <p:sp>
        <p:nvSpPr>
          <p:cNvPr id="9" name="Text 7"/>
          <p:cNvSpPr txBox="1"/>
          <p:nvPr/>
        </p:nvSpPr>
        <p:spPr>
          <a:xfrm>
            <a:off x="548640" y="4069080"/>
            <a:ext cx="8046720" cy="822960"/>
          </a:xfrm>
          <a:prstGeom prst="rect">
            <a:avLst/>
          </a:prstGeom>
          <a:noFill/>
          <a:ln/>
        </p:spPr>
        <p:txBody>
          <a:bodyPr wrap="square" lIns="0" tIns="0" rIns="0" bIns="0" rtlCol="0" anchor="t"/>
          <a:lstStyle/>
          <a:p>
            <a:pPr marL="0" indent="0">
              <a:buNone/>
            </a:pPr>
            <a:r>
              <a:rPr lang="en-US" sz="1300" b="1" dirty="0">
                <a:solidFill>
                  <a:schemeClr val="bg1"/>
                </a:solidFill>
              </a:rPr>
              <a:t>Brahiam Alberto Campiño Romero</a:t>
            </a:r>
            <a:endParaRPr lang="en-US" sz="1300" dirty="0"/>
          </a:p>
          <a:p>
            <a:pPr marL="0" indent="0">
              <a:buNone/>
            </a:pPr>
            <a:r>
              <a:rPr lang="en-US" sz="1300" dirty="0">
                <a:solidFill>
                  <a:schemeClr val="bg1"/>
                </a:solidFill>
              </a:rPr>
              <a:t>Docente: Ing. Rodolfo José Gutiérrez González</a:t>
            </a:r>
            <a:endParaRPr lang="en-US" sz="1300" dirty="0"/>
          </a:p>
          <a:p>
            <a:pPr marL="0" indent="0">
              <a:buNone/>
            </a:pPr>
            <a:r>
              <a:rPr lang="en-US" sz="1300" dirty="0">
                <a:solidFill>
                  <a:schemeClr val="bg1"/>
                </a:solidFill>
              </a:rPr>
              <a:t>Circuitos no lineales · Universidad de Ibagué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E9F155-FDBF-915C-4E7F-AC80A3780B1D}"/>
              </a:ext>
            </a:extLst>
          </p:cNvPr>
          <p:cNvSpPr>
            <a:spLocks noGrp="1"/>
          </p:cNvSpPr>
          <p:nvPr>
            <p:ph type="title" idx="100"/>
          </p:nvPr>
        </p:nvSpPr>
        <p:spPr>
          <a:xfrm>
            <a:off x="-2225744" y="292360"/>
            <a:ext cx="8046720" cy="1188720"/>
          </a:xfrm>
        </p:spPr>
        <p:txBody>
          <a:bodyPr/>
          <a:lstStyle/>
          <a:p>
            <a:r>
              <a:rPr lang="es-ES" dirty="0"/>
              <a:t>Problema</a:t>
            </a:r>
            <a:endParaRPr lang="es-CO" dirty="0"/>
          </a:p>
        </p:txBody>
      </p:sp>
      <p:sp>
        <p:nvSpPr>
          <p:cNvPr id="3" name="Marcador de texto 2">
            <a:extLst>
              <a:ext uri="{FF2B5EF4-FFF2-40B4-BE49-F238E27FC236}">
                <a16:creationId xmlns:a16="http://schemas.microsoft.com/office/drawing/2014/main" id="{4716C7BE-1143-13EB-28C3-8411BA4454DF}"/>
              </a:ext>
            </a:extLst>
          </p:cNvPr>
          <p:cNvSpPr>
            <a:spLocks noGrp="1"/>
          </p:cNvSpPr>
          <p:nvPr>
            <p:ph type="body" idx="101"/>
          </p:nvPr>
        </p:nvSpPr>
        <p:spPr>
          <a:xfrm>
            <a:off x="380689" y="1295400"/>
            <a:ext cx="8046720" cy="548640"/>
          </a:xfrm>
        </p:spPr>
        <p:txBody>
          <a:bodyPr/>
          <a:lstStyle/>
          <a:p>
            <a:r>
              <a:rPr lang="es-CO" b="1" dirty="0"/>
              <a:t>Diseñar e implementar un detector de latido cardiaco basado en amplificadores operacionales alimentados a ±12 V, capaz de identificar cada complejo QRS de una señal tipo ECG de 0,5 a 2 </a:t>
            </a:r>
            <a:r>
              <a:rPr lang="es-CO" b="1" dirty="0" err="1"/>
              <a:t>Vpp</a:t>
            </a:r>
            <a:r>
              <a:rPr lang="es-CO" b="1" dirty="0"/>
              <a:t> ideal, sin importar su polaridad o tipo de señal, entregando un pulso rectangular limpio por cada latido en un rango de 40 a 150 latidos por minuto.</a:t>
            </a:r>
            <a:endParaRPr lang="es-CO" dirty="0"/>
          </a:p>
          <a:p>
            <a:endParaRPr lang="es-CO" dirty="0"/>
          </a:p>
        </p:txBody>
      </p:sp>
    </p:spTree>
    <p:extLst>
      <p:ext uri="{BB962C8B-B14F-4D97-AF65-F5344CB8AC3E}">
        <p14:creationId xmlns:p14="http://schemas.microsoft.com/office/powerpoint/2010/main" val="3362390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Un pulso por latido, sin importar la polaridad</a:t>
            </a:r>
            <a:endParaRPr lang="en-US" sz="3000" dirty="0"/>
          </a:p>
        </p:txBody>
      </p:sp>
      <p:sp>
        <p:nvSpPr>
          <p:cNvPr id="3" name="Bloque Amplificador"/>
          <p:cNvSpPr/>
          <p:nvPr/>
        </p:nvSpPr>
        <p:spPr>
          <a:xfrm>
            <a:off x="457200" y="1463040"/>
            <a:ext cx="1417320" cy="1097280"/>
          </a:xfrm>
          <a:prstGeom prst="roundRect">
            <a:avLst>
              <a:gd name="adj" fmla="val 8333"/>
            </a:avLst>
          </a:prstGeom>
          <a:solidFill>
            <a:schemeClr val="bg2"/>
          </a:solidFill>
          <a:ln w="12700">
            <a:solidFill>
              <a:schemeClr val="accent1"/>
            </a:solidFill>
            <a:prstDash val="solid"/>
          </a:ln>
        </p:spPr>
      </p:sp>
      <p:sp>
        <p:nvSpPr>
          <p:cNvPr id="4" name="Text 2"/>
          <p:cNvSpPr txBox="1"/>
          <p:nvPr/>
        </p:nvSpPr>
        <p:spPr>
          <a:xfrm>
            <a:off x="45720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tx2"/>
                </a:solidFill>
              </a:rPr>
              <a:t>Amplificador</a:t>
            </a:r>
            <a:endParaRPr lang="en-US" sz="1500" dirty="0"/>
          </a:p>
          <a:p>
            <a:pPr marL="0" indent="0" algn="ctr">
              <a:buNone/>
            </a:pPr>
            <a:r>
              <a:rPr lang="en-US" sz="1400" dirty="0">
                <a:solidFill>
                  <a:schemeClr val="tx2"/>
                </a:solidFill>
              </a:rPr>
              <a:t>×4,9</a:t>
            </a:r>
            <a:endParaRPr lang="en-US" sz="1500" dirty="0"/>
          </a:p>
        </p:txBody>
      </p:sp>
      <p:sp>
        <p:nvSpPr>
          <p:cNvPr id="5" name="Flecha 0"/>
          <p:cNvSpPr/>
          <p:nvPr/>
        </p:nvSpPr>
        <p:spPr>
          <a:xfrm>
            <a:off x="1911096" y="1892808"/>
            <a:ext cx="201168" cy="237744"/>
          </a:xfrm>
          <a:prstGeom prst="rightArrow">
            <a:avLst/>
          </a:prstGeom>
          <a:solidFill>
            <a:schemeClr val="accent3"/>
          </a:solidFill>
          <a:ln w="12700">
            <a:solidFill>
              <a:schemeClr val="accent3"/>
            </a:solidFill>
            <a:prstDash val="solid"/>
          </a:ln>
        </p:spPr>
      </p:sp>
      <p:sp>
        <p:nvSpPr>
          <p:cNvPr id="6" name="Bloque Rectificador"/>
          <p:cNvSpPr/>
          <p:nvPr/>
        </p:nvSpPr>
        <p:spPr>
          <a:xfrm>
            <a:off x="2148840" y="1463040"/>
            <a:ext cx="1417320" cy="1097280"/>
          </a:xfrm>
          <a:prstGeom prst="roundRect">
            <a:avLst>
              <a:gd name="adj" fmla="val 8333"/>
            </a:avLst>
          </a:prstGeom>
          <a:solidFill>
            <a:schemeClr val="accent1"/>
          </a:solidFill>
          <a:ln w="12700">
            <a:solidFill>
              <a:schemeClr val="accent1"/>
            </a:solidFill>
            <a:prstDash val="solid"/>
          </a:ln>
        </p:spPr>
      </p:sp>
      <p:sp>
        <p:nvSpPr>
          <p:cNvPr id="7" name="Text 5"/>
          <p:cNvSpPr txBox="1"/>
          <p:nvPr/>
        </p:nvSpPr>
        <p:spPr>
          <a:xfrm>
            <a:off x="214884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Rectificador</a:t>
            </a:r>
            <a:endParaRPr lang="en-US" sz="1500" dirty="0"/>
          </a:p>
          <a:p>
            <a:pPr marL="0" indent="0" algn="ctr">
              <a:buNone/>
            </a:pPr>
            <a:r>
              <a:rPr lang="en-US" sz="1400" dirty="0">
                <a:solidFill>
                  <a:schemeClr val="bg1"/>
                </a:solidFill>
              </a:rPr>
              <a:t>|Vg|</a:t>
            </a:r>
            <a:endParaRPr lang="en-US" sz="1500" dirty="0"/>
          </a:p>
        </p:txBody>
      </p:sp>
      <p:sp>
        <p:nvSpPr>
          <p:cNvPr id="8" name="Flecha 1"/>
          <p:cNvSpPr/>
          <p:nvPr/>
        </p:nvSpPr>
        <p:spPr>
          <a:xfrm>
            <a:off x="3602736" y="1892808"/>
            <a:ext cx="201168" cy="237744"/>
          </a:xfrm>
          <a:prstGeom prst="rightArrow">
            <a:avLst/>
          </a:prstGeom>
          <a:solidFill>
            <a:schemeClr val="accent3"/>
          </a:solidFill>
          <a:ln w="12700">
            <a:solidFill>
              <a:schemeClr val="accent3"/>
            </a:solidFill>
            <a:prstDash val="solid"/>
          </a:ln>
        </p:spPr>
      </p:sp>
      <p:sp>
        <p:nvSpPr>
          <p:cNvPr id="9" name="Bloque Detector de pico"/>
          <p:cNvSpPr/>
          <p:nvPr/>
        </p:nvSpPr>
        <p:spPr>
          <a:xfrm>
            <a:off x="3840480" y="1463040"/>
            <a:ext cx="1417320" cy="1097280"/>
          </a:xfrm>
          <a:prstGeom prst="roundRect">
            <a:avLst>
              <a:gd name="adj" fmla="val 8333"/>
            </a:avLst>
          </a:prstGeom>
          <a:solidFill>
            <a:schemeClr val="accent1"/>
          </a:solidFill>
          <a:ln w="12700">
            <a:solidFill>
              <a:schemeClr val="accent1"/>
            </a:solidFill>
            <a:prstDash val="solid"/>
          </a:ln>
        </p:spPr>
      </p:sp>
      <p:sp>
        <p:nvSpPr>
          <p:cNvPr id="10" name="Text 8"/>
          <p:cNvSpPr txBox="1"/>
          <p:nvPr/>
        </p:nvSpPr>
        <p:spPr>
          <a:xfrm>
            <a:off x="384048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Detector de pico</a:t>
            </a:r>
            <a:endParaRPr lang="en-US" sz="1500" dirty="0"/>
          </a:p>
          <a:p>
            <a:pPr marL="0" indent="0" algn="ctr">
              <a:buNone/>
            </a:pPr>
            <a:r>
              <a:rPr lang="en-US" sz="1400" dirty="0">
                <a:solidFill>
                  <a:schemeClr val="bg1"/>
                </a:solidFill>
              </a:rPr>
              <a:t>τ = 100 ms</a:t>
            </a:r>
            <a:endParaRPr lang="en-US" sz="1500" dirty="0"/>
          </a:p>
        </p:txBody>
      </p:sp>
      <p:sp>
        <p:nvSpPr>
          <p:cNvPr id="11" name="Flecha 2"/>
          <p:cNvSpPr/>
          <p:nvPr/>
        </p:nvSpPr>
        <p:spPr>
          <a:xfrm>
            <a:off x="5294376" y="1892808"/>
            <a:ext cx="201168" cy="237744"/>
          </a:xfrm>
          <a:prstGeom prst="rightArrow">
            <a:avLst/>
          </a:prstGeom>
          <a:solidFill>
            <a:schemeClr val="accent3"/>
          </a:solidFill>
          <a:ln w="12700">
            <a:solidFill>
              <a:schemeClr val="accent3"/>
            </a:solidFill>
            <a:prstDash val="solid"/>
          </a:ln>
        </p:spPr>
      </p:sp>
      <p:sp>
        <p:nvSpPr>
          <p:cNvPr id="12" name="Bloque Schmitt"/>
          <p:cNvSpPr/>
          <p:nvPr/>
        </p:nvSpPr>
        <p:spPr>
          <a:xfrm>
            <a:off x="5532120" y="1463040"/>
            <a:ext cx="1417320" cy="1097280"/>
          </a:xfrm>
          <a:prstGeom prst="roundRect">
            <a:avLst>
              <a:gd name="adj" fmla="val 8333"/>
            </a:avLst>
          </a:prstGeom>
          <a:solidFill>
            <a:schemeClr val="accent1"/>
          </a:solidFill>
          <a:ln w="12700">
            <a:solidFill>
              <a:schemeClr val="accent1"/>
            </a:solidFill>
            <a:prstDash val="solid"/>
          </a:ln>
        </p:spPr>
      </p:sp>
      <p:sp>
        <p:nvSpPr>
          <p:cNvPr id="13" name="Text 11"/>
          <p:cNvSpPr txBox="1"/>
          <p:nvPr/>
        </p:nvSpPr>
        <p:spPr>
          <a:xfrm>
            <a:off x="553212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bg1"/>
                </a:solidFill>
              </a:rPr>
              <a:t>Schmitt</a:t>
            </a:r>
            <a:endParaRPr lang="en-US" sz="1500" dirty="0"/>
          </a:p>
          <a:p>
            <a:pPr marL="0" indent="0" algn="ctr">
              <a:buNone/>
            </a:pPr>
            <a:r>
              <a:rPr lang="en-US" sz="1400" dirty="0">
                <a:solidFill>
                  <a:schemeClr val="bg1"/>
                </a:solidFill>
              </a:rPr>
              <a:t>1,01 / 0,52 V</a:t>
            </a:r>
            <a:endParaRPr lang="en-US" sz="1500" dirty="0"/>
          </a:p>
        </p:txBody>
      </p:sp>
      <p:sp>
        <p:nvSpPr>
          <p:cNvPr id="14" name="Flecha 3"/>
          <p:cNvSpPr/>
          <p:nvPr/>
        </p:nvSpPr>
        <p:spPr>
          <a:xfrm>
            <a:off x="6986016" y="1892808"/>
            <a:ext cx="201168" cy="237744"/>
          </a:xfrm>
          <a:prstGeom prst="rightArrow">
            <a:avLst/>
          </a:prstGeom>
          <a:solidFill>
            <a:schemeClr val="accent3"/>
          </a:solidFill>
          <a:ln w="12700">
            <a:solidFill>
              <a:schemeClr val="accent3"/>
            </a:solidFill>
            <a:prstDash val="solid"/>
          </a:ln>
        </p:spPr>
      </p:sp>
      <p:sp>
        <p:nvSpPr>
          <p:cNvPr id="15" name="Bloque LED"/>
          <p:cNvSpPr/>
          <p:nvPr/>
        </p:nvSpPr>
        <p:spPr>
          <a:xfrm>
            <a:off x="7223760" y="1463040"/>
            <a:ext cx="1417320" cy="1097280"/>
          </a:xfrm>
          <a:prstGeom prst="roundRect">
            <a:avLst>
              <a:gd name="adj" fmla="val 8333"/>
            </a:avLst>
          </a:prstGeom>
          <a:solidFill>
            <a:schemeClr val="bg2"/>
          </a:solidFill>
          <a:ln w="12700">
            <a:solidFill>
              <a:schemeClr val="accent1"/>
            </a:solidFill>
            <a:prstDash val="solid"/>
          </a:ln>
        </p:spPr>
      </p:sp>
      <p:sp>
        <p:nvSpPr>
          <p:cNvPr id="16" name="Text 14"/>
          <p:cNvSpPr txBox="1"/>
          <p:nvPr/>
        </p:nvSpPr>
        <p:spPr>
          <a:xfrm>
            <a:off x="7223760" y="1463040"/>
            <a:ext cx="1417320" cy="1097280"/>
          </a:xfrm>
          <a:prstGeom prst="rect">
            <a:avLst/>
          </a:prstGeom>
          <a:noFill/>
          <a:ln/>
        </p:spPr>
        <p:txBody>
          <a:bodyPr wrap="square" lIns="635" tIns="635" rIns="635" bIns="635" rtlCol="0" anchor="ctr"/>
          <a:lstStyle/>
          <a:p>
            <a:pPr marL="0" indent="0" algn="ctr">
              <a:buNone/>
            </a:pPr>
            <a:r>
              <a:rPr lang="en-US" sz="1500" b="1" dirty="0">
                <a:solidFill>
                  <a:schemeClr val="tx2"/>
                </a:solidFill>
              </a:rPr>
              <a:t>LED</a:t>
            </a:r>
            <a:endParaRPr lang="en-US" sz="1500" dirty="0"/>
          </a:p>
          <a:p>
            <a:pPr marL="0" indent="0" algn="ctr">
              <a:buNone/>
            </a:pPr>
            <a:r>
              <a:rPr lang="en-US" sz="1400" dirty="0">
                <a:solidFill>
                  <a:schemeClr val="tx2"/>
                </a:solidFill>
              </a:rPr>
              <a:t>salida</a:t>
            </a:r>
            <a:endParaRPr lang="en-US" sz="1500" dirty="0"/>
          </a:p>
        </p:txBody>
      </p:sp>
      <p:sp>
        <p:nvSpPr>
          <p:cNvPr id="17" name="Text 15"/>
          <p:cNvSpPr txBox="1"/>
          <p:nvPr/>
        </p:nvSpPr>
        <p:spPr>
          <a:xfrm>
            <a:off x="2148840" y="2651760"/>
            <a:ext cx="4800600" cy="320040"/>
          </a:xfrm>
          <a:prstGeom prst="rect">
            <a:avLst/>
          </a:prstGeom>
          <a:noFill/>
          <a:ln/>
        </p:spPr>
        <p:txBody>
          <a:bodyPr wrap="square" lIns="0" tIns="0" rIns="0" bIns="0" rtlCol="0" anchor="ctr"/>
          <a:lstStyle/>
          <a:p>
            <a:pPr marL="0" indent="0" algn="ctr">
              <a:buNone/>
            </a:pPr>
            <a:r>
              <a:rPr lang="en-US" sz="1300" i="1" dirty="0">
                <a:solidFill>
                  <a:schemeClr val="accent1"/>
                </a:solidFill>
              </a:rPr>
              <a:t>Bloques no lineales</a:t>
            </a:r>
            <a:endParaRPr lang="en-US" sz="1300" dirty="0"/>
          </a:p>
        </p:txBody>
      </p:sp>
      <p:sp>
        <p:nvSpPr>
          <p:cNvPr id="18" name="Tarjeta Por qué no basta un circuito lineal"/>
          <p:cNvSpPr/>
          <p:nvPr/>
        </p:nvSpPr>
        <p:spPr>
          <a:xfrm>
            <a:off x="317921" y="3200400"/>
            <a:ext cx="8229600" cy="1508760"/>
          </a:xfrm>
          <a:prstGeom prst="roundRect">
            <a:avLst>
              <a:gd name="adj" fmla="val 6400"/>
            </a:avLst>
          </a:prstGeom>
          <a:solidFill>
            <a:schemeClr val="bg2"/>
          </a:solidFill>
          <a:ln w="12700">
            <a:solidFill>
              <a:schemeClr val="bg2"/>
            </a:solidFill>
            <a:prstDash val="solid"/>
          </a:ln>
        </p:spPr>
      </p:sp>
      <p:sp>
        <p:nvSpPr>
          <p:cNvPr id="19" name="Text 17"/>
          <p:cNvSpPr txBox="1"/>
          <p:nvPr/>
        </p:nvSpPr>
        <p:spPr>
          <a:xfrm>
            <a:off x="640080" y="3383280"/>
            <a:ext cx="7863840" cy="8686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Por qué no basta un circuito lineal</a:t>
            </a:r>
            <a:endParaRPr lang="en-US" sz="1600" dirty="0"/>
          </a:p>
          <a:p>
            <a:pPr marL="342900" indent="-342900">
              <a:spcAft>
                <a:spcPts val="600"/>
              </a:spcAft>
              <a:buSzPct val="100000"/>
              <a:buChar char="•"/>
            </a:pPr>
            <a:r>
              <a:rPr lang="en-US" sz="1500" dirty="0">
                <a:solidFill>
                  <a:schemeClr val="tx1"/>
                </a:solidFill>
              </a:rPr>
              <a:t>La onda R puede ser positiva o negativa → rectificar</a:t>
            </a:r>
            <a:endParaRPr lang="en-US" sz="1600" dirty="0"/>
          </a:p>
          <a:p>
            <a:pPr marL="342900" indent="-342900">
              <a:spcAft>
                <a:spcPts val="600"/>
              </a:spcAft>
              <a:buSzPct val="100000"/>
              <a:buChar char="•"/>
            </a:pPr>
            <a:r>
              <a:rPr lang="en-US" sz="1500" dirty="0">
                <a:solidFill>
                  <a:schemeClr val="tx1"/>
                </a:solidFill>
              </a:rPr>
              <a:t>El QRS tiene varios lóbulos → fundirlos </a:t>
            </a:r>
            <a:r>
              <a:rPr lang="en-US" sz="1500" dirty="0" err="1">
                <a:solidFill>
                  <a:schemeClr val="tx1"/>
                </a:solidFill>
              </a:rPr>
              <a:t>en</a:t>
            </a:r>
            <a:r>
              <a:rPr lang="en-US" sz="1500" dirty="0">
                <a:solidFill>
                  <a:schemeClr val="tx1"/>
                </a:solidFill>
              </a:rPr>
              <a:t> uno</a:t>
            </a:r>
          </a:p>
          <a:p>
            <a:pPr marL="342900" indent="-342900">
              <a:spcAft>
                <a:spcPts val="600"/>
              </a:spcAft>
              <a:buSzPct val="100000"/>
              <a:buChar char="•"/>
            </a:pPr>
            <a:r>
              <a:rPr lang="en-US" sz="1500" dirty="0" err="1"/>
              <a:t>Limites</a:t>
            </a:r>
            <a:r>
              <a:rPr lang="en-US" sz="1500" dirty="0"/>
              <a:t> de </a:t>
            </a:r>
            <a:r>
              <a:rPr lang="en-US" sz="1500" dirty="0" err="1"/>
              <a:t>diseño</a:t>
            </a:r>
            <a:r>
              <a:rPr lang="en-US" sz="1500" dirty="0"/>
              <a:t> de 0.5 a 2vpp</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Circuito completo: 6 op-amps a ±12 V</a:t>
            </a:r>
            <a:endParaRPr lang="en-US" sz="3000" dirty="0"/>
          </a:p>
        </p:txBody>
      </p:sp>
      <p:pic>
        <p:nvPicPr>
          <p:cNvPr id="3" name="Esquema Proteus" descr="/home/claude/informe_latex/figuras/proteus_esquema.png"/>
          <p:cNvPicPr>
            <a:picLocks noChangeAspect="1"/>
          </p:cNvPicPr>
          <p:nvPr/>
        </p:nvPicPr>
        <p:blipFill>
          <a:blip r:embed="rId3"/>
          <a:stretch>
            <a:fillRect/>
          </a:stretch>
        </p:blipFill>
        <p:spPr>
          <a:xfrm>
            <a:off x="747938" y="1005840"/>
            <a:ext cx="7648124" cy="3657600"/>
          </a:xfrm>
          <a:prstGeom prst="rect">
            <a:avLst/>
          </a:prstGeom>
        </p:spPr>
      </p:pic>
      <p:sp>
        <p:nvSpPr>
          <p:cNvPr id="4" name="Text 1"/>
          <p:cNvSpPr txBox="1"/>
          <p:nvPr/>
        </p:nvSpPr>
        <p:spPr>
          <a:xfrm>
            <a:off x="457200" y="4709160"/>
            <a:ext cx="5486400" cy="274320"/>
          </a:xfrm>
          <a:prstGeom prst="rect">
            <a:avLst/>
          </a:prstGeom>
          <a:noFill/>
          <a:ln/>
        </p:spPr>
        <p:txBody>
          <a:bodyPr wrap="square" lIns="0" tIns="0" rIns="0" bIns="0" rtlCol="0" anchor="ctr"/>
          <a:lstStyle/>
          <a:p>
            <a:pPr marL="0" indent="0">
              <a:buNone/>
            </a:pPr>
            <a:r>
              <a:rPr lang="en-US" sz="1100" dirty="0">
                <a:solidFill>
                  <a:schemeClr val="accent3"/>
                </a:solidFill>
              </a:rPr>
              <a:t>Simulado en Proteus con LM741</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Etapa 1 · Amplificador no inversor</a:t>
            </a:r>
            <a:endParaRPr lang="en-US" sz="3000" dirty="0"/>
          </a:p>
        </p:txBody>
      </p:sp>
      <p:sp>
        <p:nvSpPr>
          <p:cNvPr id="3" name="Etapa 1"/>
          <p:cNvSpPr/>
          <p:nvPr/>
        </p:nvSpPr>
        <p:spPr>
          <a:xfrm>
            <a:off x="8229600" y="3657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pic>
        <p:nvPicPr>
          <p:cNvPr id="5" name="Cálculo amplificador" descr="/home/claude/informe_latex/figuras/calc_amplificador.png"/>
          <p:cNvPicPr>
            <a:picLocks noChangeAspect="1"/>
          </p:cNvPicPr>
          <p:nvPr/>
        </p:nvPicPr>
        <p:blipFill>
          <a:blip r:embed="rId3"/>
          <a:stretch>
            <a:fillRect/>
          </a:stretch>
        </p:blipFill>
        <p:spPr>
          <a:xfrm>
            <a:off x="405150" y="1051560"/>
            <a:ext cx="5041861" cy="3840480"/>
          </a:xfrm>
          <a:prstGeom prst="rect">
            <a:avLst/>
          </a:prstGeom>
        </p:spPr>
      </p:pic>
      <p:sp>
        <p:nvSpPr>
          <p:cNvPr id="6" name="Tarjeta Lo esencial"/>
          <p:cNvSpPr/>
          <p:nvPr/>
        </p:nvSpPr>
        <p:spPr>
          <a:xfrm>
            <a:off x="5760720" y="1051560"/>
            <a:ext cx="2926080" cy="2240280"/>
          </a:xfrm>
          <a:prstGeom prst="roundRect">
            <a:avLst>
              <a:gd name="adj" fmla="val 3265"/>
            </a:avLst>
          </a:prstGeom>
          <a:solidFill>
            <a:schemeClr val="bg2"/>
          </a:solidFill>
          <a:ln w="12700">
            <a:solidFill>
              <a:schemeClr val="bg2"/>
            </a:solidFill>
            <a:prstDash val="solid"/>
          </a:ln>
        </p:spPr>
      </p:sp>
      <p:sp>
        <p:nvSpPr>
          <p:cNvPr id="7" name="Text 4"/>
          <p:cNvSpPr txBox="1"/>
          <p:nvPr/>
        </p:nvSpPr>
        <p:spPr>
          <a:xfrm>
            <a:off x="5943600" y="1188720"/>
            <a:ext cx="2560320" cy="196596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Lo esencial</a:t>
            </a:r>
            <a:endParaRPr lang="en-US" sz="1600" dirty="0"/>
          </a:p>
          <a:p>
            <a:pPr marL="342900" indent="-342900">
              <a:spcAft>
                <a:spcPts val="600"/>
              </a:spcAft>
              <a:buSzPct val="100000"/>
              <a:buChar char="•"/>
            </a:pPr>
            <a:r>
              <a:rPr lang="en-US" sz="1500" dirty="0">
                <a:solidFill>
                  <a:schemeClr val="tx1"/>
                </a:solidFill>
              </a:rPr>
              <a:t>Vg = Vin (1 + Rf1/Rg1)</a:t>
            </a:r>
            <a:endParaRPr lang="en-US" sz="1600" dirty="0"/>
          </a:p>
          <a:p>
            <a:pPr marL="342900" indent="-342900">
              <a:spcAft>
                <a:spcPts val="600"/>
              </a:spcAft>
              <a:buSzPct val="100000"/>
              <a:buChar char="•"/>
            </a:pPr>
            <a:r>
              <a:rPr lang="en-US" sz="1500" dirty="0">
                <a:solidFill>
                  <a:schemeClr val="tx1"/>
                </a:solidFill>
              </a:rPr>
              <a:t>Av = 4,9</a:t>
            </a:r>
            <a:endParaRPr lang="en-US" sz="1600" dirty="0"/>
          </a:p>
          <a:p>
            <a:pPr marL="342900" indent="-342900">
              <a:spcAft>
                <a:spcPts val="600"/>
              </a:spcAft>
              <a:buSzPct val="100000"/>
              <a:buChar char="•"/>
            </a:pPr>
            <a:r>
              <a:rPr lang="en-US" sz="1500" dirty="0">
                <a:solidFill>
                  <a:schemeClr val="tx1"/>
                </a:solidFill>
              </a:rPr>
              <a:t>Rg1 = 10 kΩ → Rf1 = 39 kΩ</a:t>
            </a:r>
            <a:endParaRPr lang="en-US" sz="1600" dirty="0"/>
          </a:p>
          <a:p>
            <a:pPr marL="342900" indent="-342900">
              <a:spcAft>
                <a:spcPts val="600"/>
              </a:spcAft>
              <a:buSzPct val="100000"/>
              <a:buChar char="•"/>
            </a:pPr>
            <a:r>
              <a:rPr lang="en-US" sz="1500" dirty="0">
                <a:solidFill>
                  <a:schemeClr val="tx1"/>
                </a:solidFill>
              </a:rPr>
              <a:t>0,5–2 Vpp → 2,45–9,8 V</a:t>
            </a:r>
            <a:endParaRPr lang="en-US" sz="1600" dirty="0"/>
          </a:p>
        </p:txBody>
      </p:sp>
      <p:sp>
        <p:nvSpPr>
          <p:cNvPr id="8" name="Text 5"/>
          <p:cNvSpPr txBox="1"/>
          <p:nvPr/>
        </p:nvSpPr>
        <p:spPr>
          <a:xfrm>
            <a:off x="5760720" y="3611880"/>
            <a:ext cx="2926080" cy="685800"/>
          </a:xfrm>
          <a:prstGeom prst="rect">
            <a:avLst/>
          </a:prstGeom>
          <a:noFill/>
          <a:ln/>
        </p:spPr>
        <p:txBody>
          <a:bodyPr wrap="square" lIns="0" tIns="0" rIns="0" bIns="0" rtlCol="0" anchor="ctr"/>
          <a:lstStyle/>
          <a:p>
            <a:pPr marL="0" indent="0">
              <a:buNone/>
            </a:pPr>
            <a:r>
              <a:rPr lang="en-US" sz="3600" b="1" dirty="0">
                <a:solidFill>
                  <a:schemeClr val="accent1"/>
                </a:solidFill>
              </a:rPr>
              <a:t>Av = 4,9</a:t>
            </a:r>
            <a:endParaRPr lang="en-US" sz="3600" dirty="0"/>
          </a:p>
        </p:txBody>
      </p:sp>
      <p:sp>
        <p:nvSpPr>
          <p:cNvPr id="9" name="Text 6"/>
          <p:cNvSpPr txBox="1"/>
          <p:nvPr/>
        </p:nvSpPr>
        <p:spPr>
          <a:xfrm>
            <a:off x="5760720" y="4297680"/>
            <a:ext cx="2926080" cy="411480"/>
          </a:xfrm>
          <a:prstGeom prst="rect">
            <a:avLst/>
          </a:prstGeom>
          <a:noFill/>
          <a:ln/>
        </p:spPr>
        <p:txBody>
          <a:bodyPr wrap="square" lIns="0" tIns="0" rIns="0" bIns="0" rtlCol="0" anchor="t"/>
          <a:lstStyle/>
          <a:p>
            <a:pPr marL="0" indent="0">
              <a:buNone/>
            </a:pPr>
            <a:r>
              <a:rPr lang="en-US" sz="1300" dirty="0">
                <a:solidFill>
                  <a:schemeClr val="accent3"/>
                </a:solidFill>
              </a:rPr>
              <a:t>ventana válida: 4,04 a 5,25</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Comfrobucen max.&#10;&#10;El contenido generado por IA puede ser incorrecto.">
            <a:extLst>
              <a:ext uri="{FF2B5EF4-FFF2-40B4-BE49-F238E27FC236}">
                <a16:creationId xmlns:a16="http://schemas.microsoft.com/office/drawing/2014/main" id="{D42830C2-ACDF-8EE2-8B38-E57E10170BED}"/>
              </a:ext>
            </a:extLst>
          </p:cNvPr>
          <p:cNvPicPr>
            <a:picLocks noChangeAspect="1"/>
          </p:cNvPicPr>
          <p:nvPr/>
        </p:nvPicPr>
        <p:blipFill>
          <a:blip r:embed="rId2"/>
          <a:stretch>
            <a:fillRect/>
          </a:stretch>
        </p:blipFill>
        <p:spPr>
          <a:xfrm>
            <a:off x="2532682" y="0"/>
            <a:ext cx="4078635" cy="5143500"/>
          </a:xfrm>
          <a:prstGeom prst="rect">
            <a:avLst/>
          </a:prstGeom>
        </p:spPr>
      </p:pic>
    </p:spTree>
    <p:extLst>
      <p:ext uri="{BB962C8B-B14F-4D97-AF65-F5344CB8AC3E}">
        <p14:creationId xmlns:p14="http://schemas.microsoft.com/office/powerpoint/2010/main" val="288064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Etapa 2 · Rectificador de precisión</a:t>
            </a:r>
            <a:endParaRPr lang="en-US" sz="3000" dirty="0"/>
          </a:p>
        </p:txBody>
      </p:sp>
      <p:sp>
        <p:nvSpPr>
          <p:cNvPr id="3" name="Etapa 2"/>
          <p:cNvSpPr/>
          <p:nvPr/>
        </p:nvSpPr>
        <p:spPr>
          <a:xfrm>
            <a:off x="8229600" y="3657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pic>
        <p:nvPicPr>
          <p:cNvPr id="5" name="Cálculo media onda" descr="/home/claude/informe_latex/figuras/calc_rectificador.png"/>
          <p:cNvPicPr>
            <a:picLocks noChangeAspect="1"/>
          </p:cNvPicPr>
          <p:nvPr/>
        </p:nvPicPr>
        <p:blipFill>
          <a:blip r:embed="rId3"/>
          <a:stretch>
            <a:fillRect/>
          </a:stretch>
        </p:blipFill>
        <p:spPr>
          <a:xfrm>
            <a:off x="1750901" y="769254"/>
            <a:ext cx="5642198" cy="2979786"/>
          </a:xfrm>
          <a:prstGeom prst="rect">
            <a:avLst/>
          </a:prstGeom>
        </p:spPr>
      </p:pic>
      <p:sp>
        <p:nvSpPr>
          <p:cNvPr id="6" name="Caso Vg &gt; 0"/>
          <p:cNvSpPr/>
          <p:nvPr/>
        </p:nvSpPr>
        <p:spPr>
          <a:xfrm>
            <a:off x="457200" y="3931920"/>
            <a:ext cx="2606040" cy="868680"/>
          </a:xfrm>
          <a:prstGeom prst="roundRect">
            <a:avLst>
              <a:gd name="adj" fmla="val 8421"/>
            </a:avLst>
          </a:prstGeom>
          <a:solidFill>
            <a:schemeClr val="bg2"/>
          </a:solidFill>
          <a:ln w="12700">
            <a:solidFill>
              <a:schemeClr val="bg2"/>
            </a:solidFill>
            <a:prstDash val="solid"/>
          </a:ln>
        </p:spPr>
      </p:sp>
      <p:sp>
        <p:nvSpPr>
          <p:cNvPr id="7" name="Text 4"/>
          <p:cNvSpPr txBox="1"/>
          <p:nvPr/>
        </p:nvSpPr>
        <p:spPr>
          <a:xfrm>
            <a:off x="594360"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Vg &gt; 0</a:t>
            </a:r>
            <a:endParaRPr lang="en-US" sz="1600" dirty="0"/>
          </a:p>
          <a:p>
            <a:pPr marL="0" indent="0">
              <a:buNone/>
            </a:pPr>
            <a:r>
              <a:rPr lang="en-US" sz="1400" dirty="0">
                <a:solidFill>
                  <a:schemeClr val="tx1"/>
                </a:solidFill>
              </a:rPr>
              <a:t>D2 conduce · Vhw = −Vg</a:t>
            </a:r>
            <a:endParaRPr lang="en-US" sz="1600" dirty="0"/>
          </a:p>
        </p:txBody>
      </p:sp>
      <p:sp>
        <p:nvSpPr>
          <p:cNvPr id="8" name="Caso Vg &lt; 0"/>
          <p:cNvSpPr/>
          <p:nvPr/>
        </p:nvSpPr>
        <p:spPr>
          <a:xfrm>
            <a:off x="3355848" y="3931920"/>
            <a:ext cx="2606040" cy="868680"/>
          </a:xfrm>
          <a:prstGeom prst="roundRect">
            <a:avLst>
              <a:gd name="adj" fmla="val 8421"/>
            </a:avLst>
          </a:prstGeom>
          <a:solidFill>
            <a:schemeClr val="bg2"/>
          </a:solidFill>
          <a:ln w="12700">
            <a:solidFill>
              <a:schemeClr val="bg2"/>
            </a:solidFill>
            <a:prstDash val="solid"/>
          </a:ln>
        </p:spPr>
      </p:sp>
      <p:sp>
        <p:nvSpPr>
          <p:cNvPr id="9" name="Text 6"/>
          <p:cNvSpPr txBox="1"/>
          <p:nvPr/>
        </p:nvSpPr>
        <p:spPr>
          <a:xfrm>
            <a:off x="3493008"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Vg &lt; 0</a:t>
            </a:r>
            <a:endParaRPr lang="en-US" sz="1600" dirty="0"/>
          </a:p>
          <a:p>
            <a:pPr marL="0" indent="0">
              <a:buNone/>
            </a:pPr>
            <a:r>
              <a:rPr lang="en-US" sz="1400" dirty="0">
                <a:solidFill>
                  <a:schemeClr val="tx1"/>
                </a:solidFill>
              </a:rPr>
              <a:t>D1 conduce · Vhw = 0</a:t>
            </a:r>
            <a:endParaRPr lang="en-US" sz="1600" dirty="0"/>
          </a:p>
        </p:txBody>
      </p:sp>
      <p:sp>
        <p:nvSpPr>
          <p:cNvPr id="10" name="Caso Precisión"/>
          <p:cNvSpPr/>
          <p:nvPr/>
        </p:nvSpPr>
        <p:spPr>
          <a:xfrm>
            <a:off x="6254496" y="3931920"/>
            <a:ext cx="2606040" cy="868680"/>
          </a:xfrm>
          <a:prstGeom prst="roundRect">
            <a:avLst>
              <a:gd name="adj" fmla="val 8421"/>
            </a:avLst>
          </a:prstGeom>
          <a:solidFill>
            <a:schemeClr val="bg2"/>
          </a:solidFill>
          <a:ln w="12700">
            <a:solidFill>
              <a:schemeClr val="bg2"/>
            </a:solidFill>
            <a:prstDash val="solid"/>
          </a:ln>
        </p:spPr>
      </p:sp>
      <p:sp>
        <p:nvSpPr>
          <p:cNvPr id="11" name="Text 8"/>
          <p:cNvSpPr txBox="1"/>
          <p:nvPr/>
        </p:nvSpPr>
        <p:spPr>
          <a:xfrm>
            <a:off x="6391656" y="3931920"/>
            <a:ext cx="2331720" cy="868680"/>
          </a:xfrm>
          <a:prstGeom prst="rect">
            <a:avLst/>
          </a:prstGeom>
          <a:noFill/>
          <a:ln/>
        </p:spPr>
        <p:txBody>
          <a:bodyPr wrap="square" lIns="0" tIns="0" rIns="0" bIns="0" rtlCol="0" anchor="ctr"/>
          <a:lstStyle/>
          <a:p>
            <a:pPr marL="0" indent="0">
              <a:buNone/>
            </a:pPr>
            <a:r>
              <a:rPr lang="en-US" sz="1600" b="1" dirty="0">
                <a:solidFill>
                  <a:schemeClr val="accent1"/>
                </a:solidFill>
              </a:rPr>
              <a:t>Precisión</a:t>
            </a:r>
            <a:endParaRPr lang="en-US" sz="1600" dirty="0"/>
          </a:p>
          <a:p>
            <a:pPr marL="0" indent="0">
              <a:buNone/>
            </a:pPr>
            <a:r>
              <a:rPr lang="en-US" sz="1400" dirty="0">
                <a:solidFill>
                  <a:schemeClr val="tx1"/>
                </a:solidFill>
              </a:rPr>
              <a:t>Zona muerta ≈ 3 µV</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circuit diagram with components labeled, including a ZA (presumably a variable resistor or component), voltage values, and a series of equations or measurements related to the circuit.&#10;&#10;El contenido generado por IA puede ser incorrecto.">
            <a:extLst>
              <a:ext uri="{FF2B5EF4-FFF2-40B4-BE49-F238E27FC236}">
                <a16:creationId xmlns:a16="http://schemas.microsoft.com/office/drawing/2014/main" id="{3C3DE73B-5038-DBC4-2F65-7626EBBDDA04}"/>
              </a:ext>
            </a:extLst>
          </p:cNvPr>
          <p:cNvPicPr>
            <a:picLocks noChangeAspect="1"/>
          </p:cNvPicPr>
          <p:nvPr/>
        </p:nvPicPr>
        <p:blipFill>
          <a:blip r:embed="rId2"/>
          <a:stretch>
            <a:fillRect/>
          </a:stretch>
        </p:blipFill>
        <p:spPr>
          <a:xfrm>
            <a:off x="639713" y="0"/>
            <a:ext cx="5127427" cy="5143500"/>
          </a:xfrm>
          <a:prstGeom prst="rect">
            <a:avLst/>
          </a:prstGeom>
        </p:spPr>
      </p:pic>
      <p:sp>
        <p:nvSpPr>
          <p:cNvPr id="5" name="CuadroTexto 4">
            <a:extLst>
              <a:ext uri="{FF2B5EF4-FFF2-40B4-BE49-F238E27FC236}">
                <a16:creationId xmlns:a16="http://schemas.microsoft.com/office/drawing/2014/main" id="{215BFFDB-37D3-27B9-DB2E-038C7E999E7A}"/>
              </a:ext>
            </a:extLst>
          </p:cNvPr>
          <p:cNvSpPr txBox="1"/>
          <p:nvPr/>
        </p:nvSpPr>
        <p:spPr>
          <a:xfrm>
            <a:off x="5867905" y="775121"/>
            <a:ext cx="2912757" cy="369332"/>
          </a:xfrm>
          <a:prstGeom prst="rect">
            <a:avLst/>
          </a:prstGeom>
          <a:noFill/>
        </p:spPr>
        <p:txBody>
          <a:bodyPr wrap="square" rtlCol="0">
            <a:spAutoFit/>
          </a:bodyPr>
          <a:lstStyle/>
          <a:p>
            <a:r>
              <a:rPr lang="es-ES" dirty="0"/>
              <a:t>Caso 1, </a:t>
            </a:r>
            <a:r>
              <a:rPr lang="es-ES" dirty="0" err="1"/>
              <a:t>Vg</a:t>
            </a:r>
            <a:r>
              <a:rPr lang="es-ES" dirty="0"/>
              <a:t> +</a:t>
            </a:r>
            <a:endParaRPr lang="es-CO" dirty="0"/>
          </a:p>
        </p:txBody>
      </p:sp>
    </p:spTree>
    <p:extLst>
      <p:ext uri="{BB962C8B-B14F-4D97-AF65-F5344CB8AC3E}">
        <p14:creationId xmlns:p14="http://schemas.microsoft.com/office/powerpoint/2010/main" val="2038695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appears to be a circuit diagram with various electronic components and annotations, including symbols for resistors, capacitors, and voltage sources, as well as some handwritten notes and calculations.&#10;&#10;El contenido generado por IA puede ser incorrecto.">
            <a:extLst>
              <a:ext uri="{FF2B5EF4-FFF2-40B4-BE49-F238E27FC236}">
                <a16:creationId xmlns:a16="http://schemas.microsoft.com/office/drawing/2014/main" id="{B0573F9A-3EA5-F4A3-AFB3-DC76D6131D7A}"/>
              </a:ext>
            </a:extLst>
          </p:cNvPr>
          <p:cNvPicPr>
            <a:picLocks noChangeAspect="1"/>
          </p:cNvPicPr>
          <p:nvPr/>
        </p:nvPicPr>
        <p:blipFill>
          <a:blip r:embed="rId2"/>
          <a:stretch>
            <a:fillRect/>
          </a:stretch>
        </p:blipFill>
        <p:spPr>
          <a:xfrm>
            <a:off x="626964" y="0"/>
            <a:ext cx="5710043" cy="5143500"/>
          </a:xfrm>
          <a:prstGeom prst="rect">
            <a:avLst/>
          </a:prstGeom>
        </p:spPr>
      </p:pic>
      <p:sp>
        <p:nvSpPr>
          <p:cNvPr id="6" name="CuadroTexto 5">
            <a:extLst>
              <a:ext uri="{FF2B5EF4-FFF2-40B4-BE49-F238E27FC236}">
                <a16:creationId xmlns:a16="http://schemas.microsoft.com/office/drawing/2014/main" id="{4988E701-9124-C46B-96BB-B749A3706660}"/>
              </a:ext>
            </a:extLst>
          </p:cNvPr>
          <p:cNvSpPr txBox="1"/>
          <p:nvPr/>
        </p:nvSpPr>
        <p:spPr>
          <a:xfrm>
            <a:off x="6600636" y="775121"/>
            <a:ext cx="2912757" cy="369332"/>
          </a:xfrm>
          <a:prstGeom prst="rect">
            <a:avLst/>
          </a:prstGeom>
          <a:noFill/>
        </p:spPr>
        <p:txBody>
          <a:bodyPr wrap="square" rtlCol="0">
            <a:spAutoFit/>
          </a:bodyPr>
          <a:lstStyle/>
          <a:p>
            <a:r>
              <a:rPr lang="es-ES" dirty="0"/>
              <a:t>Caso 2, </a:t>
            </a:r>
            <a:r>
              <a:rPr lang="es-ES" dirty="0" err="1"/>
              <a:t>Vg</a:t>
            </a:r>
            <a:r>
              <a:rPr lang="es-ES" dirty="0"/>
              <a:t> -</a:t>
            </a:r>
            <a:endParaRPr lang="es-CO" dirty="0"/>
          </a:p>
        </p:txBody>
      </p:sp>
    </p:spTree>
    <p:extLst>
      <p:ext uri="{BB962C8B-B14F-4D97-AF65-F5344CB8AC3E}">
        <p14:creationId xmlns:p14="http://schemas.microsoft.com/office/powerpoint/2010/main" val="255520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Etapa 2 · Sumador: de media onda a |Vg|</a:t>
            </a:r>
            <a:endParaRPr lang="en-US" sz="3000" dirty="0"/>
          </a:p>
        </p:txBody>
      </p:sp>
      <p:sp>
        <p:nvSpPr>
          <p:cNvPr id="3" name="Etapa 2"/>
          <p:cNvSpPr/>
          <p:nvPr/>
        </p:nvSpPr>
        <p:spPr>
          <a:xfrm>
            <a:off x="8229600" y="3657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8229600" y="365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pic>
        <p:nvPicPr>
          <p:cNvPr id="5" name="Cálculo sumador" descr="/home/claude/informe_latex/figuras/calc_sumador.png"/>
          <p:cNvPicPr>
            <a:picLocks noChangeAspect="1"/>
          </p:cNvPicPr>
          <p:nvPr/>
        </p:nvPicPr>
        <p:blipFill>
          <a:blip r:embed="rId3"/>
          <a:stretch>
            <a:fillRect/>
          </a:stretch>
        </p:blipFill>
        <p:spPr>
          <a:xfrm>
            <a:off x="410310" y="1051560"/>
            <a:ext cx="5031540" cy="3840480"/>
          </a:xfrm>
          <a:prstGeom prst="rect">
            <a:avLst/>
          </a:prstGeom>
        </p:spPr>
      </p:pic>
      <p:sp>
        <p:nvSpPr>
          <p:cNvPr id="6" name="Tarjeta Lo esencial"/>
          <p:cNvSpPr/>
          <p:nvPr/>
        </p:nvSpPr>
        <p:spPr>
          <a:xfrm>
            <a:off x="5760720" y="1051560"/>
            <a:ext cx="2926080" cy="2240280"/>
          </a:xfrm>
          <a:prstGeom prst="roundRect">
            <a:avLst>
              <a:gd name="adj" fmla="val 3265"/>
            </a:avLst>
          </a:prstGeom>
          <a:solidFill>
            <a:schemeClr val="bg2"/>
          </a:solidFill>
          <a:ln w="12700">
            <a:solidFill>
              <a:schemeClr val="bg2"/>
            </a:solidFill>
            <a:prstDash val="solid"/>
          </a:ln>
        </p:spPr>
      </p:sp>
      <p:sp>
        <p:nvSpPr>
          <p:cNvPr id="7" name="Text 4"/>
          <p:cNvSpPr txBox="1"/>
          <p:nvPr/>
        </p:nvSpPr>
        <p:spPr>
          <a:xfrm>
            <a:off x="5943600" y="1188720"/>
            <a:ext cx="2560320" cy="196596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Lo esencial</a:t>
            </a:r>
            <a:endParaRPr lang="en-US" sz="1600" dirty="0"/>
          </a:p>
          <a:p>
            <a:pPr marL="342900" indent="-342900">
              <a:spcAft>
                <a:spcPts val="600"/>
              </a:spcAft>
              <a:buSzPct val="100000"/>
              <a:buChar char="•"/>
            </a:pPr>
            <a:r>
              <a:rPr lang="en-US" sz="1500" dirty="0">
                <a:solidFill>
                  <a:schemeClr val="tx1"/>
                </a:solidFill>
              </a:rPr>
              <a:t>Vr = −(Vg + 2·Vhw)</a:t>
            </a:r>
            <a:endParaRPr lang="en-US" sz="1600" dirty="0"/>
          </a:p>
          <a:p>
            <a:pPr marL="342900" indent="-342900">
              <a:spcAft>
                <a:spcPts val="600"/>
              </a:spcAft>
              <a:buSzPct val="100000"/>
              <a:buChar char="•"/>
            </a:pPr>
            <a:r>
              <a:rPr lang="en-US" sz="1500" dirty="0">
                <a:solidFill>
                  <a:schemeClr val="tx1"/>
                </a:solidFill>
              </a:rPr>
              <a:t>R6 = R4 = 20 kΩ</a:t>
            </a:r>
            <a:endParaRPr lang="en-US" sz="1600" dirty="0"/>
          </a:p>
          <a:p>
            <a:pPr marL="342900" indent="-342900">
              <a:spcAft>
                <a:spcPts val="600"/>
              </a:spcAft>
              <a:buSzPct val="100000"/>
              <a:buChar char="•"/>
            </a:pPr>
            <a:r>
              <a:rPr lang="en-US" sz="1500" dirty="0">
                <a:solidFill>
                  <a:schemeClr val="tx1"/>
                </a:solidFill>
              </a:rPr>
              <a:t>R6 = 2·R5 (R5 = 10 kΩ)</a:t>
            </a:r>
            <a:endParaRPr lang="en-US" sz="1600" dirty="0"/>
          </a:p>
          <a:p>
            <a:pPr marL="342900" indent="-342900">
              <a:spcAft>
                <a:spcPts val="600"/>
              </a:spcAft>
              <a:buSzPct val="100000"/>
              <a:buChar char="•"/>
            </a:pPr>
            <a:r>
              <a:rPr lang="en-US" sz="1500" dirty="0">
                <a:solidFill>
                  <a:schemeClr val="tx1"/>
                </a:solidFill>
              </a:rPr>
              <a:t>Resultado: Vr = |Vg|</a:t>
            </a:r>
            <a:endParaRPr lang="en-US" sz="1600" dirty="0"/>
          </a:p>
        </p:txBody>
      </p:sp>
      <p:sp>
        <p:nvSpPr>
          <p:cNvPr id="8" name="Text 5"/>
          <p:cNvSpPr txBox="1"/>
          <p:nvPr/>
        </p:nvSpPr>
        <p:spPr>
          <a:xfrm>
            <a:off x="5760720" y="3611880"/>
            <a:ext cx="2926080" cy="685800"/>
          </a:xfrm>
          <a:prstGeom prst="rect">
            <a:avLst/>
          </a:prstGeom>
          <a:noFill/>
          <a:ln/>
        </p:spPr>
        <p:txBody>
          <a:bodyPr wrap="square" lIns="0" tIns="0" rIns="0" bIns="0" rtlCol="0" anchor="ctr"/>
          <a:lstStyle/>
          <a:p>
            <a:pPr marL="0" indent="0">
              <a:buNone/>
            </a:pPr>
            <a:r>
              <a:rPr lang="en-US" sz="3600" b="1" dirty="0">
                <a:solidFill>
                  <a:schemeClr val="accent2"/>
                </a:solidFill>
              </a:rPr>
              <a:t>1 %</a:t>
            </a:r>
            <a:endParaRPr lang="en-US" sz="3600" dirty="0"/>
          </a:p>
        </p:txBody>
      </p:sp>
      <p:sp>
        <p:nvSpPr>
          <p:cNvPr id="9" name="Text 6"/>
          <p:cNvSpPr txBox="1"/>
          <p:nvPr/>
        </p:nvSpPr>
        <p:spPr>
          <a:xfrm>
            <a:off x="5760720" y="4297680"/>
            <a:ext cx="2926080" cy="411480"/>
          </a:xfrm>
          <a:prstGeom prst="rect">
            <a:avLst/>
          </a:prstGeom>
          <a:noFill/>
          <a:ln/>
        </p:spPr>
        <p:txBody>
          <a:bodyPr wrap="square" lIns="0" tIns="0" rIns="0" bIns="0" rtlCol="0" anchor="t"/>
          <a:lstStyle/>
          <a:p>
            <a:pPr marL="0" indent="0">
              <a:buNone/>
            </a:pPr>
            <a:r>
              <a:rPr lang="en-US" sz="1300" dirty="0">
                <a:solidFill>
                  <a:schemeClr val="accent3"/>
                </a:solidFill>
              </a:rPr>
              <a:t>tolerancia de R2 a R6</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schematic diagram with various electrical components and labels, including resistors (Rs), capacitors (C), diodes (D), and voltage sources (V), along with annotations such as 'falla Saat,' 'Uhw,' and 'Nroo Yallo.' It seems to be a circuit diagram with components connected in a specific configuration, but without the actual image, I cannot provide a detailed description.&#10;&#10;El contenido generado por IA puede ser incorrecto.">
            <a:extLst>
              <a:ext uri="{FF2B5EF4-FFF2-40B4-BE49-F238E27FC236}">
                <a16:creationId xmlns:a16="http://schemas.microsoft.com/office/drawing/2014/main" id="{990FD327-342D-18F8-E5BF-98172CFF7170}"/>
              </a:ext>
            </a:extLst>
          </p:cNvPr>
          <p:cNvPicPr>
            <a:picLocks noChangeAspect="1"/>
          </p:cNvPicPr>
          <p:nvPr/>
        </p:nvPicPr>
        <p:blipFill>
          <a:blip r:embed="rId2"/>
          <a:stretch>
            <a:fillRect/>
          </a:stretch>
        </p:blipFill>
        <p:spPr>
          <a:xfrm>
            <a:off x="0" y="50006"/>
            <a:ext cx="9144000" cy="5043488"/>
          </a:xfrm>
          <a:prstGeom prst="rect">
            <a:avLst/>
          </a:prstGeom>
        </p:spPr>
      </p:pic>
    </p:spTree>
    <p:extLst>
      <p:ext uri="{BB962C8B-B14F-4D97-AF65-F5344CB8AC3E}">
        <p14:creationId xmlns:p14="http://schemas.microsoft.com/office/powerpoint/2010/main" val="1583946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ext appears to be a schematic diagram or circuit layout, showing various components like resistors, capacitors, and voltage sources, but without further context, it's difficult to provide a detailed description.&#10;&#10;El contenido generado por IA puede ser incorrecto.">
            <a:extLst>
              <a:ext uri="{FF2B5EF4-FFF2-40B4-BE49-F238E27FC236}">
                <a16:creationId xmlns:a16="http://schemas.microsoft.com/office/drawing/2014/main" id="{D9404282-3386-255F-AC04-2D51AD6B7BC4}"/>
              </a:ext>
            </a:extLst>
          </p:cNvPr>
          <p:cNvPicPr>
            <a:picLocks noChangeAspect="1"/>
          </p:cNvPicPr>
          <p:nvPr/>
        </p:nvPicPr>
        <p:blipFill>
          <a:blip r:embed="rId2"/>
          <a:stretch>
            <a:fillRect/>
          </a:stretch>
        </p:blipFill>
        <p:spPr>
          <a:xfrm>
            <a:off x="2398067" y="42390"/>
            <a:ext cx="4347865" cy="5143500"/>
          </a:xfrm>
          <a:prstGeom prst="rect">
            <a:avLst/>
          </a:prstGeom>
        </p:spPr>
      </p:pic>
    </p:spTree>
    <p:extLst>
      <p:ext uri="{BB962C8B-B14F-4D97-AF65-F5344CB8AC3E}">
        <p14:creationId xmlns:p14="http://schemas.microsoft.com/office/powerpoint/2010/main" val="324617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circuit diagram with various voltage levels, components, and waveforms, including input voltage (Vg), output voltages (Vhw, Vr), and a sinusoidal signal.&#10;&#10;El contenido generado por IA puede ser incorrecto.">
            <a:extLst>
              <a:ext uri="{FF2B5EF4-FFF2-40B4-BE49-F238E27FC236}">
                <a16:creationId xmlns:a16="http://schemas.microsoft.com/office/drawing/2014/main" id="{4E43CFD1-9CE4-77DF-1D45-B24B18021611}"/>
              </a:ext>
            </a:extLst>
          </p:cNvPr>
          <p:cNvPicPr>
            <a:picLocks noChangeAspect="1"/>
          </p:cNvPicPr>
          <p:nvPr/>
        </p:nvPicPr>
        <p:blipFill>
          <a:blip r:embed="rId2"/>
          <a:stretch>
            <a:fillRect/>
          </a:stretch>
        </p:blipFill>
        <p:spPr>
          <a:xfrm>
            <a:off x="1524688" y="467189"/>
            <a:ext cx="5803100" cy="3995809"/>
          </a:xfrm>
          <a:prstGeom prst="rect">
            <a:avLst/>
          </a:prstGeom>
        </p:spPr>
      </p:pic>
    </p:spTree>
    <p:extLst>
      <p:ext uri="{BB962C8B-B14F-4D97-AF65-F5344CB8AC3E}">
        <p14:creationId xmlns:p14="http://schemas.microsoft.com/office/powerpoint/2010/main" val="104705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952206" y="41148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Etapa 3 · Detector de pico</a:t>
            </a:r>
            <a:endParaRPr lang="en-US" sz="3000" dirty="0"/>
          </a:p>
        </p:txBody>
      </p:sp>
      <p:sp>
        <p:nvSpPr>
          <p:cNvPr id="3" name="Etapa 3"/>
          <p:cNvSpPr/>
          <p:nvPr/>
        </p:nvSpPr>
        <p:spPr>
          <a:xfrm>
            <a:off x="8641382" y="228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8641382" y="228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pic>
        <p:nvPicPr>
          <p:cNvPr id="5" name="Cálculo detector" descr="/home/claude/informe_latex/figuras/calc_detector.png"/>
          <p:cNvPicPr>
            <a:picLocks noChangeAspect="1"/>
          </p:cNvPicPr>
          <p:nvPr/>
        </p:nvPicPr>
        <p:blipFill>
          <a:blip r:embed="rId3"/>
          <a:stretch>
            <a:fillRect/>
          </a:stretch>
        </p:blipFill>
        <p:spPr>
          <a:xfrm>
            <a:off x="0" y="480060"/>
            <a:ext cx="5002491" cy="4549140"/>
          </a:xfrm>
          <a:prstGeom prst="rect">
            <a:avLst/>
          </a:prstGeom>
        </p:spPr>
      </p:pic>
      <p:sp>
        <p:nvSpPr>
          <p:cNvPr id="6" name="Tarjeta Lo esencial"/>
          <p:cNvSpPr/>
          <p:nvPr/>
        </p:nvSpPr>
        <p:spPr>
          <a:xfrm>
            <a:off x="5029200" y="1051560"/>
            <a:ext cx="3657600" cy="1828800"/>
          </a:xfrm>
          <a:prstGeom prst="roundRect">
            <a:avLst>
              <a:gd name="adj" fmla="val 4000"/>
            </a:avLst>
          </a:prstGeom>
          <a:solidFill>
            <a:schemeClr val="bg2"/>
          </a:solidFill>
          <a:ln w="12700">
            <a:solidFill>
              <a:schemeClr val="bg2"/>
            </a:solidFill>
            <a:prstDash val="solid"/>
          </a:ln>
        </p:spPr>
      </p:sp>
      <p:sp>
        <p:nvSpPr>
          <p:cNvPr id="7" name="Text 4"/>
          <p:cNvSpPr txBox="1"/>
          <p:nvPr/>
        </p:nvSpPr>
        <p:spPr>
          <a:xfrm>
            <a:off x="5212080" y="1188720"/>
            <a:ext cx="3291840" cy="15544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Lo esencial</a:t>
            </a:r>
            <a:endParaRPr lang="en-US" sz="1600" dirty="0"/>
          </a:p>
          <a:p>
            <a:pPr marL="342900" indent="-342900">
              <a:spcAft>
                <a:spcPts val="600"/>
              </a:spcAft>
              <a:buSzPct val="100000"/>
              <a:buChar char="•"/>
            </a:pPr>
            <a:r>
              <a:rPr lang="en-US" sz="1500" dirty="0">
                <a:solidFill>
                  <a:schemeClr val="tx1"/>
                </a:solidFill>
              </a:rPr>
              <a:t>τ = R9·C1 = 100 kΩ · 1 µF = 100 ms</a:t>
            </a:r>
            <a:endParaRPr lang="en-US" sz="1600" dirty="0"/>
          </a:p>
          <a:p>
            <a:pPr marL="342900" indent="-342900">
              <a:spcAft>
                <a:spcPts val="600"/>
              </a:spcAft>
              <a:buSzPct val="100000"/>
              <a:buChar char="•"/>
            </a:pPr>
            <a:r>
              <a:rPr lang="en-US" sz="1500" dirty="0">
                <a:solidFill>
                  <a:schemeClr val="tx1"/>
                </a:solidFill>
              </a:rPr>
              <a:t>Ventana válida: 90–110 ms</a:t>
            </a:r>
            <a:endParaRPr lang="en-US" sz="1600" dirty="0"/>
          </a:p>
          <a:p>
            <a:pPr marL="342900" indent="-342900">
              <a:spcAft>
                <a:spcPts val="600"/>
              </a:spcAft>
              <a:buSzPct val="100000"/>
              <a:buChar char="•"/>
            </a:pPr>
            <a:r>
              <a:rPr lang="en-US" sz="1500" dirty="0">
                <a:solidFill>
                  <a:schemeClr val="tx1"/>
                </a:solidFill>
              </a:rPr>
              <a:t>Buffer: τ no depende de R8</a:t>
            </a:r>
            <a:endParaRPr lang="en-US" sz="1600" dirty="0"/>
          </a:p>
        </p:txBody>
      </p:sp>
      <p:sp>
        <p:nvSpPr>
          <p:cNvPr id="8" name="Text 5"/>
          <p:cNvSpPr txBox="1"/>
          <p:nvPr/>
        </p:nvSpPr>
        <p:spPr>
          <a:xfrm>
            <a:off x="5029200" y="3291840"/>
            <a:ext cx="1737360" cy="685800"/>
          </a:xfrm>
          <a:prstGeom prst="rect">
            <a:avLst/>
          </a:prstGeom>
          <a:noFill/>
          <a:ln/>
        </p:spPr>
        <p:txBody>
          <a:bodyPr wrap="square" lIns="0" tIns="0" rIns="0" bIns="0" rtlCol="0" anchor="ctr"/>
          <a:lstStyle/>
          <a:p>
            <a:pPr marL="0" indent="0">
              <a:buNone/>
            </a:pPr>
            <a:r>
              <a:rPr lang="en-US" sz="3600" b="1" dirty="0">
                <a:solidFill>
                  <a:schemeClr val="accent1"/>
                </a:solidFill>
              </a:rPr>
              <a:t>100 ms</a:t>
            </a:r>
            <a:endParaRPr lang="en-US" sz="3600" dirty="0"/>
          </a:p>
        </p:txBody>
      </p:sp>
      <p:sp>
        <p:nvSpPr>
          <p:cNvPr id="9" name="Text 6"/>
          <p:cNvSpPr txBox="1"/>
          <p:nvPr/>
        </p:nvSpPr>
        <p:spPr>
          <a:xfrm>
            <a:off x="5029200" y="3977640"/>
            <a:ext cx="1737360" cy="411480"/>
          </a:xfrm>
          <a:prstGeom prst="rect">
            <a:avLst/>
          </a:prstGeom>
          <a:noFill/>
          <a:ln/>
        </p:spPr>
        <p:txBody>
          <a:bodyPr wrap="square" lIns="0" tIns="0" rIns="0" bIns="0" rtlCol="0" anchor="t"/>
          <a:lstStyle/>
          <a:p>
            <a:pPr marL="0" indent="0">
              <a:buNone/>
            </a:pPr>
            <a:r>
              <a:rPr lang="en-US" sz="1300" dirty="0">
                <a:solidFill>
                  <a:schemeClr val="accent3"/>
                </a:solidFill>
              </a:rPr>
              <a:t>constante de descarga</a:t>
            </a:r>
            <a:endParaRPr lang="en-US" sz="1300" dirty="0"/>
          </a:p>
        </p:txBody>
      </p:sp>
      <p:sp>
        <p:nvSpPr>
          <p:cNvPr id="10" name="Text 7"/>
          <p:cNvSpPr txBox="1"/>
          <p:nvPr/>
        </p:nvSpPr>
        <p:spPr>
          <a:xfrm>
            <a:off x="6949440" y="3291840"/>
            <a:ext cx="1737360" cy="685800"/>
          </a:xfrm>
          <a:prstGeom prst="rect">
            <a:avLst/>
          </a:prstGeom>
          <a:noFill/>
          <a:ln/>
        </p:spPr>
        <p:txBody>
          <a:bodyPr wrap="square" lIns="0" tIns="0" rIns="0" bIns="0" rtlCol="0" anchor="ctr"/>
          <a:lstStyle/>
          <a:p>
            <a:pPr marL="0" indent="0">
              <a:buNone/>
            </a:pPr>
            <a:r>
              <a:rPr lang="en-US" sz="3600" b="1" dirty="0">
                <a:solidFill>
                  <a:schemeClr val="accent2"/>
                </a:solidFill>
              </a:rPr>
              <a:t>0,1 ms</a:t>
            </a:r>
            <a:endParaRPr lang="en-US" sz="3600" dirty="0"/>
          </a:p>
        </p:txBody>
      </p:sp>
      <p:sp>
        <p:nvSpPr>
          <p:cNvPr id="11" name="Text 8"/>
          <p:cNvSpPr txBox="1"/>
          <p:nvPr/>
        </p:nvSpPr>
        <p:spPr>
          <a:xfrm>
            <a:off x="6949440" y="3977640"/>
            <a:ext cx="1737360" cy="411480"/>
          </a:xfrm>
          <a:prstGeom prst="rect">
            <a:avLst/>
          </a:prstGeom>
          <a:noFill/>
          <a:ln/>
        </p:spPr>
        <p:txBody>
          <a:bodyPr wrap="square" lIns="0" tIns="0" rIns="0" bIns="0" rtlCol="0" anchor="t"/>
          <a:lstStyle/>
          <a:p>
            <a:pPr marL="0" indent="0">
              <a:buNone/>
            </a:pPr>
            <a:r>
              <a:rPr lang="en-US" sz="1300" dirty="0">
                <a:solidFill>
                  <a:schemeClr val="accent3"/>
                </a:solidFill>
              </a:rPr>
              <a:t>constante de carga</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ext appears to be a rough handwritten draft with mathematical and technical expressions, possibly related to electronics or circuit design, but without a clear image, it's difficult to describe it accurately.&#10;&#10;El contenido generado por IA puede ser incorrecto.">
            <a:extLst>
              <a:ext uri="{FF2B5EF4-FFF2-40B4-BE49-F238E27FC236}">
                <a16:creationId xmlns:a16="http://schemas.microsoft.com/office/drawing/2014/main" id="{1FBFC1C3-E890-A5FA-6479-0D3FCEC24CB7}"/>
              </a:ext>
            </a:extLst>
          </p:cNvPr>
          <p:cNvPicPr>
            <a:picLocks noChangeAspect="1"/>
          </p:cNvPicPr>
          <p:nvPr/>
        </p:nvPicPr>
        <p:blipFill>
          <a:blip r:embed="rId2"/>
          <a:stretch>
            <a:fillRect/>
          </a:stretch>
        </p:blipFill>
        <p:spPr>
          <a:xfrm>
            <a:off x="92839" y="0"/>
            <a:ext cx="9139481" cy="5262342"/>
          </a:xfrm>
          <a:prstGeom prst="rect">
            <a:avLst/>
          </a:prstGeom>
        </p:spPr>
      </p:pic>
    </p:spTree>
    <p:extLst>
      <p:ext uri="{BB962C8B-B14F-4D97-AF65-F5344CB8AC3E}">
        <p14:creationId xmlns:p14="http://schemas.microsoft.com/office/powerpoint/2010/main" val="3492193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The QRS complex is composed of separated lobes (Q, R, and S) that last from 80 to 120 ms in an adult, with the envelope not dropping more than 20% to prevent the comparator from triggering a double beat: e-20ms/T &gt; 0.8 &gt; T &gt; i.&#10;&#10;El contenido generado por IA puede ser incorrecto.">
            <a:extLst>
              <a:ext uri="{FF2B5EF4-FFF2-40B4-BE49-F238E27FC236}">
                <a16:creationId xmlns:a16="http://schemas.microsoft.com/office/drawing/2014/main" id="{33067470-D763-28AF-71DD-0C55A0D4CDD0}"/>
              </a:ext>
            </a:extLst>
          </p:cNvPr>
          <p:cNvPicPr>
            <a:picLocks noChangeAspect="1"/>
          </p:cNvPicPr>
          <p:nvPr/>
        </p:nvPicPr>
        <p:blipFill>
          <a:blip r:embed="rId2"/>
          <a:stretch>
            <a:fillRect/>
          </a:stretch>
        </p:blipFill>
        <p:spPr>
          <a:xfrm>
            <a:off x="0" y="65435"/>
            <a:ext cx="9144000" cy="2929493"/>
          </a:xfrm>
          <a:prstGeom prst="rect">
            <a:avLst/>
          </a:prstGeom>
        </p:spPr>
      </p:pic>
      <p:pic>
        <p:nvPicPr>
          <p:cNvPr id="8" name="Imagen 7" descr="The image illustrates a graph or chart with various data points, including a maximum threshold (T) of 9.8V, a maximum frequency of 150 lpm, and a time (T) of 400ms. It includes equations and specific values such as 0.52V at stage 4 and time measurements ranging from 75 ms to 325 ms. The chosen point is in the window of 90 ms to 110 ms with T set at 100 ms.&#10;&#10;El contenido generado por IA puede ser incorrecto.">
            <a:extLst>
              <a:ext uri="{FF2B5EF4-FFF2-40B4-BE49-F238E27FC236}">
                <a16:creationId xmlns:a16="http://schemas.microsoft.com/office/drawing/2014/main" id="{15BAB143-B6D9-BD89-61C3-7297C43FA184}"/>
              </a:ext>
            </a:extLst>
          </p:cNvPr>
          <p:cNvPicPr>
            <a:picLocks noChangeAspect="1"/>
          </p:cNvPicPr>
          <p:nvPr/>
        </p:nvPicPr>
        <p:blipFill>
          <a:blip r:embed="rId3"/>
          <a:stretch>
            <a:fillRect/>
          </a:stretch>
        </p:blipFill>
        <p:spPr>
          <a:xfrm>
            <a:off x="48445" y="3092477"/>
            <a:ext cx="9144000" cy="1925803"/>
          </a:xfrm>
          <a:prstGeom prst="rect">
            <a:avLst/>
          </a:prstGeom>
        </p:spPr>
      </p:pic>
    </p:spTree>
    <p:extLst>
      <p:ext uri="{BB962C8B-B14F-4D97-AF65-F5344CB8AC3E}">
        <p14:creationId xmlns:p14="http://schemas.microsoft.com/office/powerpoint/2010/main" val="3205261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n electrical circuit diagram with components and values such as voltage (V), current (I), and resistance (R), alongside a table of measurements and specifications.&#10;&#10;El contenido generado por IA puede ser incorrecto.">
            <a:extLst>
              <a:ext uri="{FF2B5EF4-FFF2-40B4-BE49-F238E27FC236}">
                <a16:creationId xmlns:a16="http://schemas.microsoft.com/office/drawing/2014/main" id="{0AEA06B3-2EB8-81F7-6217-29F71618948C}"/>
              </a:ext>
            </a:extLst>
          </p:cNvPr>
          <p:cNvPicPr>
            <a:picLocks noChangeAspect="1"/>
          </p:cNvPicPr>
          <p:nvPr/>
        </p:nvPicPr>
        <p:blipFill>
          <a:blip r:embed="rId2"/>
          <a:stretch>
            <a:fillRect/>
          </a:stretch>
        </p:blipFill>
        <p:spPr>
          <a:xfrm>
            <a:off x="2052857" y="230775"/>
            <a:ext cx="5256287" cy="7697995"/>
          </a:xfrm>
          <a:prstGeom prst="rect">
            <a:avLst/>
          </a:prstGeom>
        </p:spPr>
      </p:pic>
    </p:spTree>
    <p:extLst>
      <p:ext uri="{BB962C8B-B14F-4D97-AF65-F5344CB8AC3E}">
        <p14:creationId xmlns:p14="http://schemas.microsoft.com/office/powerpoint/2010/main" val="2023033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table displays various parameters and measurements related to the detector's starting conditions, including voltage values, pulse widths, QRS complex characteristics, and electrical specifications for an op-amp.&#10;&#10;El contenido generado por IA puede ser incorrecto.">
            <a:extLst>
              <a:ext uri="{FF2B5EF4-FFF2-40B4-BE49-F238E27FC236}">
                <a16:creationId xmlns:a16="http://schemas.microsoft.com/office/drawing/2014/main" id="{40BA559C-9AAB-467B-7DCB-9D9B19FF8EBB}"/>
              </a:ext>
            </a:extLst>
          </p:cNvPr>
          <p:cNvPicPr>
            <a:picLocks noChangeAspect="1"/>
          </p:cNvPicPr>
          <p:nvPr/>
        </p:nvPicPr>
        <p:blipFill>
          <a:blip r:embed="rId2"/>
          <a:stretch>
            <a:fillRect/>
          </a:stretch>
        </p:blipFill>
        <p:spPr>
          <a:xfrm>
            <a:off x="1295116" y="1097152"/>
            <a:ext cx="6553768" cy="2949196"/>
          </a:xfrm>
          <a:prstGeom prst="rect">
            <a:avLst/>
          </a:prstGeom>
        </p:spPr>
      </p:pic>
    </p:spTree>
    <p:extLst>
      <p:ext uri="{BB962C8B-B14F-4D97-AF65-F5344CB8AC3E}">
        <p14:creationId xmlns:p14="http://schemas.microsoft.com/office/powerpoint/2010/main" val="403139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τ fija la frecuencia cardiaca máxima</a:t>
            </a:r>
            <a:endParaRPr lang="en-US" sz="3000" dirty="0"/>
          </a:p>
        </p:txBody>
      </p:sp>
      <p:graphicFrame>
        <p:nvGraphicFramePr>
          <p:cNvPr id="3" name="Grafica FCmax"/>
          <p:cNvGraphicFramePr/>
          <p:nvPr/>
        </p:nvGraphicFramePr>
        <p:xfrm>
          <a:off x="365760" y="1005840"/>
          <a:ext cx="56692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Tarjeta Fórmula"/>
          <p:cNvSpPr/>
          <p:nvPr/>
        </p:nvSpPr>
        <p:spPr>
          <a:xfrm>
            <a:off x="6309360" y="1005840"/>
            <a:ext cx="237744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6492240" y="1089710"/>
            <a:ext cx="2011680" cy="1143000"/>
          </a:xfrm>
          <a:prstGeom prst="rect">
            <a:avLst/>
          </a:prstGeom>
          <a:noFill/>
          <a:ln/>
        </p:spPr>
        <p:txBody>
          <a:bodyPr wrap="square" lIns="0" tIns="0" rIns="0" bIns="0" rtlCol="0" anchor="t"/>
          <a:lstStyle/>
          <a:p>
            <a:pPr marL="0" indent="0">
              <a:spcAft>
                <a:spcPts val="600"/>
              </a:spcAft>
              <a:buNone/>
            </a:pPr>
            <a:r>
              <a:rPr lang="en-US" sz="1600" b="1" dirty="0" err="1">
                <a:solidFill>
                  <a:schemeClr val="accent1"/>
                </a:solidFill>
              </a:rPr>
              <a:t>Fórmula</a:t>
            </a:r>
            <a:r>
              <a:rPr lang="en-US" sz="1600" b="1" dirty="0">
                <a:solidFill>
                  <a:schemeClr val="accent1"/>
                </a:solidFill>
              </a:rPr>
              <a:t> (</a:t>
            </a:r>
            <a:r>
              <a:rPr lang="en-US" sz="1600" b="1" dirty="0" err="1">
                <a:solidFill>
                  <a:schemeClr val="accent1"/>
                </a:solidFill>
              </a:rPr>
              <a:t>tomada</a:t>
            </a:r>
            <a:r>
              <a:rPr lang="en-US" sz="1600" b="1" dirty="0">
                <a:solidFill>
                  <a:schemeClr val="accent1"/>
                </a:solidFill>
              </a:rPr>
              <a:t> del </a:t>
            </a:r>
            <a:r>
              <a:rPr lang="en-US" sz="1600" b="1" dirty="0" err="1">
                <a:solidFill>
                  <a:schemeClr val="accent1"/>
                </a:solidFill>
              </a:rPr>
              <a:t>informe</a:t>
            </a:r>
            <a:r>
              <a:rPr lang="en-US" sz="1600" b="1" dirty="0">
                <a:solidFill>
                  <a:schemeClr val="accent1"/>
                </a:solidFill>
              </a:rPr>
              <a:t>)</a:t>
            </a:r>
            <a:endParaRPr lang="en-US" sz="1600" dirty="0"/>
          </a:p>
          <a:p>
            <a:pPr>
              <a:spcAft>
                <a:spcPts val="600"/>
              </a:spcAft>
              <a:buSzPct val="100000"/>
            </a:pPr>
            <a:endParaRPr lang="en-US" sz="1600" dirty="0"/>
          </a:p>
        </p:txBody>
      </p:sp>
      <p:sp>
        <p:nvSpPr>
          <p:cNvPr id="6" name="Text 3"/>
          <p:cNvSpPr txBox="1"/>
          <p:nvPr/>
        </p:nvSpPr>
        <p:spPr>
          <a:xfrm>
            <a:off x="6309360" y="2743200"/>
            <a:ext cx="2377440" cy="685800"/>
          </a:xfrm>
          <a:prstGeom prst="rect">
            <a:avLst/>
          </a:prstGeom>
          <a:noFill/>
          <a:ln/>
        </p:spPr>
        <p:txBody>
          <a:bodyPr wrap="square" lIns="0" tIns="0" rIns="0" bIns="0" rtlCol="0" anchor="ctr"/>
          <a:lstStyle/>
          <a:p>
            <a:pPr marL="0" indent="0">
              <a:buNone/>
            </a:pPr>
            <a:r>
              <a:rPr lang="en-US" sz="3600" b="1" dirty="0">
                <a:solidFill>
                  <a:schemeClr val="accent2"/>
                </a:solidFill>
              </a:rPr>
              <a:t>163 lpm</a:t>
            </a:r>
            <a:endParaRPr lang="en-US" sz="3600" dirty="0"/>
          </a:p>
        </p:txBody>
      </p:sp>
      <p:sp>
        <p:nvSpPr>
          <p:cNvPr id="7" name="Text 4"/>
          <p:cNvSpPr txBox="1"/>
          <p:nvPr/>
        </p:nvSpPr>
        <p:spPr>
          <a:xfrm>
            <a:off x="6309360" y="3429000"/>
            <a:ext cx="2377440" cy="411480"/>
          </a:xfrm>
          <a:prstGeom prst="rect">
            <a:avLst/>
          </a:prstGeom>
          <a:noFill/>
          <a:ln/>
        </p:spPr>
        <p:txBody>
          <a:bodyPr wrap="square" lIns="0" tIns="0" rIns="0" bIns="0" rtlCol="0" anchor="t"/>
          <a:lstStyle/>
          <a:p>
            <a:pPr marL="0" indent="0">
              <a:buNone/>
            </a:pPr>
            <a:r>
              <a:rPr lang="en-US" sz="1300" dirty="0">
                <a:solidFill>
                  <a:schemeClr val="accent3"/>
                </a:solidFill>
              </a:rPr>
              <a:t>límite con 2 Vpp</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19</a:t>
            </a:fld>
            <a:endParaRPr lang="en-US"/>
          </a:p>
        </p:txBody>
      </p:sp>
      <p:pic>
        <p:nvPicPr>
          <p:cNvPr id="13" name="Imagen 12" descr="The image depicts an equation or formula where FCmax equals 60, followed by additional variables or parameters represented by mathematical symbols and functions.&#10;&#10;El contenido generado por IA puede ser incorrecto.">
            <a:extLst>
              <a:ext uri="{FF2B5EF4-FFF2-40B4-BE49-F238E27FC236}">
                <a16:creationId xmlns:a16="http://schemas.microsoft.com/office/drawing/2014/main" id="{3CC70171-845C-6CFD-64D2-3378E5013A9D}"/>
              </a:ext>
            </a:extLst>
          </p:cNvPr>
          <p:cNvPicPr>
            <a:picLocks noChangeAspect="1"/>
          </p:cNvPicPr>
          <p:nvPr/>
        </p:nvPicPr>
        <p:blipFill>
          <a:blip r:embed="rId4"/>
          <a:stretch>
            <a:fillRect/>
          </a:stretch>
        </p:blipFill>
        <p:spPr>
          <a:xfrm>
            <a:off x="6332119" y="1546814"/>
            <a:ext cx="2331922" cy="53344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graph comparing the discharge time and pulse width for different input voltages (Vp) on a capacitor (C1) being discharged to a voltage (VTL) over time (ms).&#10;&#10;El contenido generado por IA puede ser incorrecto.">
            <a:extLst>
              <a:ext uri="{FF2B5EF4-FFF2-40B4-BE49-F238E27FC236}">
                <a16:creationId xmlns:a16="http://schemas.microsoft.com/office/drawing/2014/main" id="{8F8626E3-FA68-17A3-284D-E070D8B179FA}"/>
              </a:ext>
            </a:extLst>
          </p:cNvPr>
          <p:cNvPicPr>
            <a:picLocks noChangeAspect="1"/>
          </p:cNvPicPr>
          <p:nvPr/>
        </p:nvPicPr>
        <p:blipFill>
          <a:blip r:embed="rId2"/>
          <a:stretch>
            <a:fillRect/>
          </a:stretch>
        </p:blipFill>
        <p:spPr>
          <a:xfrm>
            <a:off x="1405625" y="0"/>
            <a:ext cx="6332749" cy="5143500"/>
          </a:xfrm>
          <a:prstGeom prst="rect">
            <a:avLst/>
          </a:prstGeom>
        </p:spPr>
      </p:pic>
    </p:spTree>
    <p:extLst>
      <p:ext uri="{BB962C8B-B14F-4D97-AF65-F5344CB8AC3E}">
        <p14:creationId xmlns:p14="http://schemas.microsoft.com/office/powerpoint/2010/main" val="2568611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72348" y="443255"/>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Etapa 4 · Comparador Schmitt</a:t>
            </a:r>
            <a:endParaRPr lang="en-US" sz="3000" dirty="0"/>
          </a:p>
        </p:txBody>
      </p:sp>
      <p:sp>
        <p:nvSpPr>
          <p:cNvPr id="3" name="Etapa 4"/>
          <p:cNvSpPr/>
          <p:nvPr/>
        </p:nvSpPr>
        <p:spPr>
          <a:xfrm>
            <a:off x="8549640" y="123215"/>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8549640" y="100355"/>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pic>
        <p:nvPicPr>
          <p:cNvPr id="5" name="Cálculo Schmitt" descr="/home/claude/informe_latex/figuras/calc_schmitt.png"/>
          <p:cNvPicPr>
            <a:picLocks noChangeAspect="1"/>
          </p:cNvPicPr>
          <p:nvPr/>
        </p:nvPicPr>
        <p:blipFill>
          <a:blip r:embed="rId3"/>
          <a:stretch>
            <a:fillRect/>
          </a:stretch>
        </p:blipFill>
        <p:spPr>
          <a:xfrm>
            <a:off x="0" y="205390"/>
            <a:ext cx="4389121" cy="4793578"/>
          </a:xfrm>
          <a:prstGeom prst="rect">
            <a:avLst/>
          </a:prstGeom>
        </p:spPr>
      </p:pic>
      <p:sp>
        <p:nvSpPr>
          <p:cNvPr id="6" name="Tarjeta Lo esencial"/>
          <p:cNvSpPr/>
          <p:nvPr/>
        </p:nvSpPr>
        <p:spPr>
          <a:xfrm>
            <a:off x="4389120" y="1005840"/>
            <a:ext cx="4297680" cy="1828800"/>
          </a:xfrm>
          <a:prstGeom prst="roundRect">
            <a:avLst>
              <a:gd name="adj" fmla="val 4000"/>
            </a:avLst>
          </a:prstGeom>
          <a:solidFill>
            <a:schemeClr val="bg2"/>
          </a:solidFill>
          <a:ln w="12700">
            <a:solidFill>
              <a:schemeClr val="bg2"/>
            </a:solidFill>
            <a:prstDash val="solid"/>
          </a:ln>
        </p:spPr>
      </p:sp>
      <p:sp>
        <p:nvSpPr>
          <p:cNvPr id="7" name="Text 4"/>
          <p:cNvSpPr txBox="1"/>
          <p:nvPr/>
        </p:nvSpPr>
        <p:spPr>
          <a:xfrm>
            <a:off x="4572000" y="1143000"/>
            <a:ext cx="3931920" cy="15544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Lo esencial</a:t>
            </a:r>
            <a:endParaRPr lang="en-US" sz="1600" dirty="0"/>
          </a:p>
          <a:p>
            <a:pPr marL="342900" indent="-342900">
              <a:spcAft>
                <a:spcPts val="600"/>
              </a:spcAft>
              <a:buSzPct val="100000"/>
              <a:buChar char="•"/>
            </a:pPr>
            <a:r>
              <a:rPr lang="en-US" sz="1500" dirty="0">
                <a:solidFill>
                  <a:schemeClr val="tx1"/>
                </a:solidFill>
              </a:rPr>
              <a:t>k = R10/R11 = 0,0233 (430 kΩ)</a:t>
            </a:r>
            <a:endParaRPr lang="en-US" sz="1600" dirty="0"/>
          </a:p>
          <a:p>
            <a:pPr marL="342900" indent="-342900">
              <a:spcAft>
                <a:spcPts val="600"/>
              </a:spcAft>
              <a:buSzPct val="100000"/>
              <a:buChar char="•"/>
            </a:pPr>
            <a:r>
              <a:rPr lang="en-US" sz="1500" dirty="0">
                <a:solidFill>
                  <a:schemeClr val="tx1"/>
                </a:solidFill>
              </a:rPr>
              <a:t>Vref = 0,75 V (R12 = 15 kΩ, R13 = 1 kΩ)</a:t>
            </a:r>
            <a:endParaRPr lang="en-US" sz="1600" dirty="0"/>
          </a:p>
        </p:txBody>
      </p:sp>
      <p:sp>
        <p:nvSpPr>
          <p:cNvPr id="8" name="Text 5"/>
          <p:cNvSpPr txBox="1"/>
          <p:nvPr/>
        </p:nvSpPr>
        <p:spPr>
          <a:xfrm>
            <a:off x="4389120" y="3108960"/>
            <a:ext cx="1325880" cy="685800"/>
          </a:xfrm>
          <a:prstGeom prst="rect">
            <a:avLst/>
          </a:prstGeom>
          <a:noFill/>
          <a:ln/>
        </p:spPr>
        <p:txBody>
          <a:bodyPr wrap="square" lIns="0" tIns="0" rIns="0" bIns="0" rtlCol="0" anchor="ctr"/>
          <a:lstStyle/>
          <a:p>
            <a:pPr marL="0" indent="0">
              <a:buNone/>
            </a:pPr>
            <a:r>
              <a:rPr lang="en-US" sz="3600" b="1" dirty="0">
                <a:solidFill>
                  <a:schemeClr val="accent1"/>
                </a:solidFill>
              </a:rPr>
              <a:t>1,01 V</a:t>
            </a:r>
            <a:endParaRPr lang="en-US" sz="3600" dirty="0"/>
          </a:p>
        </p:txBody>
      </p:sp>
      <p:sp>
        <p:nvSpPr>
          <p:cNvPr id="9" name="Text 6"/>
          <p:cNvSpPr txBox="1"/>
          <p:nvPr/>
        </p:nvSpPr>
        <p:spPr>
          <a:xfrm>
            <a:off x="4389120" y="3794760"/>
            <a:ext cx="1325880" cy="411480"/>
          </a:xfrm>
          <a:prstGeom prst="rect">
            <a:avLst/>
          </a:prstGeom>
          <a:noFill/>
          <a:ln/>
        </p:spPr>
        <p:txBody>
          <a:bodyPr wrap="square" lIns="0" tIns="0" rIns="0" bIns="0" rtlCol="0" anchor="t"/>
          <a:lstStyle/>
          <a:p>
            <a:pPr marL="0" indent="0">
              <a:buNone/>
            </a:pPr>
            <a:r>
              <a:rPr lang="en-US" sz="1300" dirty="0">
                <a:solidFill>
                  <a:schemeClr val="accent3"/>
                </a:solidFill>
              </a:rPr>
              <a:t>VTH (dispara)</a:t>
            </a:r>
            <a:endParaRPr lang="en-US" sz="1300" dirty="0"/>
          </a:p>
        </p:txBody>
      </p:sp>
      <p:sp>
        <p:nvSpPr>
          <p:cNvPr id="10" name="Text 7"/>
          <p:cNvSpPr txBox="1"/>
          <p:nvPr/>
        </p:nvSpPr>
        <p:spPr>
          <a:xfrm>
            <a:off x="5852160" y="3108960"/>
            <a:ext cx="1325880" cy="685800"/>
          </a:xfrm>
          <a:prstGeom prst="rect">
            <a:avLst/>
          </a:prstGeom>
          <a:noFill/>
          <a:ln/>
        </p:spPr>
        <p:txBody>
          <a:bodyPr wrap="square" lIns="0" tIns="0" rIns="0" bIns="0" rtlCol="0" anchor="ctr"/>
          <a:lstStyle/>
          <a:p>
            <a:pPr marL="0" indent="0">
              <a:buNone/>
            </a:pPr>
            <a:r>
              <a:rPr lang="en-US" sz="3600" b="1" dirty="0">
                <a:solidFill>
                  <a:schemeClr val="accent1"/>
                </a:solidFill>
              </a:rPr>
              <a:t>0,52 V</a:t>
            </a:r>
            <a:endParaRPr lang="en-US" sz="3600" dirty="0"/>
          </a:p>
        </p:txBody>
      </p:sp>
      <p:sp>
        <p:nvSpPr>
          <p:cNvPr id="11" name="Text 8"/>
          <p:cNvSpPr txBox="1"/>
          <p:nvPr/>
        </p:nvSpPr>
        <p:spPr>
          <a:xfrm>
            <a:off x="5852160" y="3794760"/>
            <a:ext cx="1325880" cy="411480"/>
          </a:xfrm>
          <a:prstGeom prst="rect">
            <a:avLst/>
          </a:prstGeom>
          <a:noFill/>
          <a:ln/>
        </p:spPr>
        <p:txBody>
          <a:bodyPr wrap="square" lIns="0" tIns="0" rIns="0" bIns="0" rtlCol="0" anchor="t"/>
          <a:lstStyle/>
          <a:p>
            <a:pPr marL="0" indent="0">
              <a:buNone/>
            </a:pPr>
            <a:r>
              <a:rPr lang="en-US" sz="1300" dirty="0">
                <a:solidFill>
                  <a:schemeClr val="accent3"/>
                </a:solidFill>
              </a:rPr>
              <a:t>VTL (libera)</a:t>
            </a:r>
            <a:endParaRPr lang="en-US" sz="1300" dirty="0"/>
          </a:p>
        </p:txBody>
      </p:sp>
      <p:sp>
        <p:nvSpPr>
          <p:cNvPr id="12" name="Text 9"/>
          <p:cNvSpPr txBox="1"/>
          <p:nvPr/>
        </p:nvSpPr>
        <p:spPr>
          <a:xfrm>
            <a:off x="7315200" y="3108960"/>
            <a:ext cx="1371600" cy="685800"/>
          </a:xfrm>
          <a:prstGeom prst="rect">
            <a:avLst/>
          </a:prstGeom>
          <a:noFill/>
          <a:ln/>
        </p:spPr>
        <p:txBody>
          <a:bodyPr wrap="square" lIns="0" tIns="0" rIns="0" bIns="0" rtlCol="0" anchor="ctr"/>
          <a:lstStyle/>
          <a:p>
            <a:pPr marL="0" indent="0">
              <a:buNone/>
            </a:pPr>
            <a:r>
              <a:rPr lang="en-US" sz="3600" b="1" dirty="0">
                <a:solidFill>
                  <a:schemeClr val="accent2"/>
                </a:solidFill>
              </a:rPr>
              <a:t>0,49 V</a:t>
            </a:r>
            <a:endParaRPr lang="en-US" sz="3600" dirty="0"/>
          </a:p>
        </p:txBody>
      </p:sp>
      <p:sp>
        <p:nvSpPr>
          <p:cNvPr id="13" name="Text 10"/>
          <p:cNvSpPr txBox="1"/>
          <p:nvPr/>
        </p:nvSpPr>
        <p:spPr>
          <a:xfrm>
            <a:off x="7315200" y="3794760"/>
            <a:ext cx="1371600" cy="411480"/>
          </a:xfrm>
          <a:prstGeom prst="rect">
            <a:avLst/>
          </a:prstGeom>
          <a:noFill/>
          <a:ln/>
        </p:spPr>
        <p:txBody>
          <a:bodyPr wrap="square" lIns="0" tIns="0" rIns="0" bIns="0" rtlCol="0" anchor="t"/>
          <a:lstStyle/>
          <a:p>
            <a:pPr marL="0" indent="0">
              <a:buNone/>
            </a:pPr>
            <a:r>
              <a:rPr lang="en-US" sz="1300" dirty="0">
                <a:solidFill>
                  <a:schemeClr val="accent3"/>
                </a:solidFill>
              </a:rPr>
              <a:t>histéresis</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1,0933,&#10;&#10;El contenido generado por IA puede ser incorrecto.">
            <a:extLst>
              <a:ext uri="{FF2B5EF4-FFF2-40B4-BE49-F238E27FC236}">
                <a16:creationId xmlns:a16="http://schemas.microsoft.com/office/drawing/2014/main" id="{F645E710-3F30-7DEA-5272-F2B867E289BE}"/>
              </a:ext>
            </a:extLst>
          </p:cNvPr>
          <p:cNvPicPr>
            <a:picLocks noChangeAspect="1"/>
          </p:cNvPicPr>
          <p:nvPr/>
        </p:nvPicPr>
        <p:blipFill>
          <a:blip r:embed="rId2"/>
          <a:srcRect b="33600"/>
          <a:stretch>
            <a:fillRect/>
          </a:stretch>
        </p:blipFill>
        <p:spPr>
          <a:xfrm>
            <a:off x="711568" y="44468"/>
            <a:ext cx="6864024" cy="5054563"/>
          </a:xfrm>
          <a:prstGeom prst="rect">
            <a:avLst/>
          </a:prstGeom>
        </p:spPr>
      </p:pic>
    </p:spTree>
    <p:extLst>
      <p:ext uri="{BB962C8B-B14F-4D97-AF65-F5344CB8AC3E}">
        <p14:creationId xmlns:p14="http://schemas.microsoft.com/office/powerpoint/2010/main" val="759043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1,0933,&#10;&#10;El contenido generado por IA puede ser incorrecto.">
            <a:extLst>
              <a:ext uri="{FF2B5EF4-FFF2-40B4-BE49-F238E27FC236}">
                <a16:creationId xmlns:a16="http://schemas.microsoft.com/office/drawing/2014/main" id="{CDEE0D7C-C92C-B655-533D-E96B44FA2ED8}"/>
              </a:ext>
            </a:extLst>
          </p:cNvPr>
          <p:cNvPicPr>
            <a:picLocks noChangeAspect="1"/>
          </p:cNvPicPr>
          <p:nvPr/>
        </p:nvPicPr>
        <p:blipFill>
          <a:blip r:embed="rId2"/>
          <a:srcRect t="65931"/>
          <a:stretch>
            <a:fillRect/>
          </a:stretch>
        </p:blipFill>
        <p:spPr>
          <a:xfrm>
            <a:off x="0" y="629784"/>
            <a:ext cx="9312122" cy="3415375"/>
          </a:xfrm>
          <a:prstGeom prst="rect">
            <a:avLst/>
          </a:prstGeom>
        </p:spPr>
      </p:pic>
    </p:spTree>
    <p:extLst>
      <p:ext uri="{BB962C8B-B14F-4D97-AF65-F5344CB8AC3E}">
        <p14:creationId xmlns:p14="http://schemas.microsoft.com/office/powerpoint/2010/main" val="2342522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DB3A9-5AB3-35F9-789C-581D83282FF9}"/>
              </a:ext>
            </a:extLst>
          </p:cNvPr>
          <p:cNvSpPr>
            <a:spLocks noGrp="1"/>
          </p:cNvSpPr>
          <p:nvPr>
            <p:ph type="title" idx="100"/>
          </p:nvPr>
        </p:nvSpPr>
        <p:spPr/>
        <p:txBody>
          <a:bodyPr/>
          <a:lstStyle/>
          <a:p>
            <a:endParaRPr lang="es-CO"/>
          </a:p>
        </p:txBody>
      </p:sp>
      <p:pic>
        <p:nvPicPr>
          <p:cNvPr id="4" name="Imagen 3" descr="The image illustrates a hysteresis loop for a Schmitt trigger, showing the relationship between VTL, VTH, and VENV, with positive and negative excursions.&#10;&#10;El contenido generado por IA puede ser incorrecto.">
            <a:extLst>
              <a:ext uri="{FF2B5EF4-FFF2-40B4-BE49-F238E27FC236}">
                <a16:creationId xmlns:a16="http://schemas.microsoft.com/office/drawing/2014/main" id="{9AB421D2-540B-513B-751C-83EC5E460790}"/>
              </a:ext>
            </a:extLst>
          </p:cNvPr>
          <p:cNvPicPr>
            <a:picLocks noChangeAspect="1"/>
          </p:cNvPicPr>
          <p:nvPr/>
        </p:nvPicPr>
        <p:blipFill>
          <a:blip r:embed="rId2"/>
          <a:stretch>
            <a:fillRect/>
          </a:stretch>
        </p:blipFill>
        <p:spPr>
          <a:xfrm>
            <a:off x="590205" y="110276"/>
            <a:ext cx="7963590" cy="4922947"/>
          </a:xfrm>
          <a:prstGeom prst="rect">
            <a:avLst/>
          </a:prstGeom>
        </p:spPr>
      </p:pic>
    </p:spTree>
    <p:extLst>
      <p:ext uri="{BB962C8B-B14F-4D97-AF65-F5344CB8AC3E}">
        <p14:creationId xmlns:p14="http://schemas.microsoft.com/office/powerpoint/2010/main" val="3929845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Simulación en Proteus</a:t>
            </a:r>
            <a:endParaRPr lang="en-US" sz="3000" dirty="0"/>
          </a:p>
        </p:txBody>
      </p:sp>
      <p:pic>
        <p:nvPicPr>
          <p:cNvPr id="3" name="Captura Pulso 1 V · 0,5 Hz" descr="/home/claude/informe_latex/figuras/proteus_pulso.png"/>
          <p:cNvPicPr>
            <a:picLocks noChangeAspect="1"/>
          </p:cNvPicPr>
          <p:nvPr/>
        </p:nvPicPr>
        <p:blipFill>
          <a:blip r:embed="rId3"/>
          <a:stretch>
            <a:fillRect/>
          </a:stretch>
        </p:blipFill>
        <p:spPr>
          <a:xfrm>
            <a:off x="365760" y="1259238"/>
            <a:ext cx="2651760" cy="2602163"/>
          </a:xfrm>
          <a:prstGeom prst="rect">
            <a:avLst/>
          </a:prstGeom>
        </p:spPr>
      </p:pic>
      <p:sp>
        <p:nvSpPr>
          <p:cNvPr id="4" name="Text 1"/>
          <p:cNvSpPr txBox="1"/>
          <p:nvPr/>
        </p:nvSpPr>
        <p:spPr>
          <a:xfrm>
            <a:off x="36576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Pulso 1 V · 0,5 Hz</a:t>
            </a:r>
            <a:endParaRPr lang="en-US" sz="1400" dirty="0"/>
          </a:p>
        </p:txBody>
      </p:sp>
      <p:pic>
        <p:nvPicPr>
          <p:cNvPr id="5" name="Captura Seno 2 Vpp · 0,5 Hz" descr="/home/claude/informe_latex/figuras/proteus_seno.png"/>
          <p:cNvPicPr>
            <a:picLocks noChangeAspect="1"/>
          </p:cNvPicPr>
          <p:nvPr/>
        </p:nvPicPr>
        <p:blipFill>
          <a:blip r:embed="rId4"/>
          <a:stretch>
            <a:fillRect/>
          </a:stretch>
        </p:blipFill>
        <p:spPr>
          <a:xfrm>
            <a:off x="3200400" y="1239232"/>
            <a:ext cx="2651760" cy="2642175"/>
          </a:xfrm>
          <a:prstGeom prst="rect">
            <a:avLst/>
          </a:prstGeom>
        </p:spPr>
      </p:pic>
      <p:sp>
        <p:nvSpPr>
          <p:cNvPr id="6" name="Text 2"/>
          <p:cNvSpPr txBox="1"/>
          <p:nvPr/>
        </p:nvSpPr>
        <p:spPr>
          <a:xfrm>
            <a:off x="320040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Seno 2 Vpp · 0,5 Hz</a:t>
            </a:r>
            <a:endParaRPr lang="en-US" sz="1400" dirty="0"/>
          </a:p>
        </p:txBody>
      </p:sp>
      <p:pic>
        <p:nvPicPr>
          <p:cNvPr id="7" name="Captura Latido sintético" descr="/home/claude/informe_latex/figuras/proteus_ecg.png"/>
          <p:cNvPicPr>
            <a:picLocks noChangeAspect="1"/>
          </p:cNvPicPr>
          <p:nvPr/>
        </p:nvPicPr>
        <p:blipFill>
          <a:blip r:embed="rId5"/>
          <a:stretch>
            <a:fillRect/>
          </a:stretch>
        </p:blipFill>
        <p:spPr>
          <a:xfrm>
            <a:off x="6035040" y="1286011"/>
            <a:ext cx="2651760" cy="2548618"/>
          </a:xfrm>
          <a:prstGeom prst="rect">
            <a:avLst/>
          </a:prstGeom>
        </p:spPr>
      </p:pic>
      <p:sp>
        <p:nvSpPr>
          <p:cNvPr id="8" name="Text 3"/>
          <p:cNvSpPr txBox="1"/>
          <p:nvPr/>
        </p:nvSpPr>
        <p:spPr>
          <a:xfrm>
            <a:off x="6035040" y="4206240"/>
            <a:ext cx="2651760" cy="320040"/>
          </a:xfrm>
          <a:prstGeom prst="rect">
            <a:avLst/>
          </a:prstGeom>
          <a:noFill/>
          <a:ln/>
        </p:spPr>
        <p:txBody>
          <a:bodyPr wrap="square" lIns="0" tIns="0" rIns="0" bIns="0" rtlCol="0" anchor="ctr"/>
          <a:lstStyle/>
          <a:p>
            <a:pPr marL="0" indent="0" algn="ctr">
              <a:buNone/>
            </a:pPr>
            <a:r>
              <a:rPr lang="en-US" sz="1400" b="1" dirty="0">
                <a:solidFill>
                  <a:schemeClr val="tx2"/>
                </a:solidFill>
              </a:rPr>
              <a:t>Latido sintético</a:t>
            </a:r>
            <a:endParaRPr lang="en-US" sz="1400" dirty="0"/>
          </a:p>
        </p:txBody>
      </p:sp>
      <p:sp>
        <p:nvSpPr>
          <p:cNvPr id="9" name="Text 4"/>
          <p:cNvSpPr txBox="1"/>
          <p:nvPr/>
        </p:nvSpPr>
        <p:spPr>
          <a:xfrm>
            <a:off x="365760" y="4572000"/>
            <a:ext cx="7863840" cy="274320"/>
          </a:xfrm>
          <a:prstGeom prst="rect">
            <a:avLst/>
          </a:prstGeom>
          <a:noFill/>
          <a:ln/>
        </p:spPr>
        <p:txBody>
          <a:bodyPr wrap="square" lIns="0" tIns="0" rIns="0" bIns="0" rtlCol="0" anchor="ctr"/>
          <a:lstStyle/>
          <a:p>
            <a:pPr marL="0" indent="0">
              <a:buNone/>
            </a:pPr>
            <a:r>
              <a:rPr lang="en-US" sz="1100" dirty="0">
                <a:solidFill>
                  <a:schemeClr val="accent3"/>
                </a:solidFill>
              </a:rPr>
              <a:t>Amarillo: entrada · Azul: Vr · Rosa: Venv · Verde: salida</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isplays a waveform graph showing a pulse with a peak-to-peak voltage of 1 V at a frequency of 1.2 Hz, with a pulse width of 75 milliseconds.&#10;&#10;El contenido generado por IA puede ser incorrecto.">
            <a:extLst>
              <a:ext uri="{FF2B5EF4-FFF2-40B4-BE49-F238E27FC236}">
                <a16:creationId xmlns:a16="http://schemas.microsoft.com/office/drawing/2014/main" id="{96861C95-33A2-EAFD-6553-384FB415CBDD}"/>
              </a:ext>
            </a:extLst>
          </p:cNvPr>
          <p:cNvPicPr>
            <a:picLocks noChangeAspect="1"/>
          </p:cNvPicPr>
          <p:nvPr/>
        </p:nvPicPr>
        <p:blipFill>
          <a:blip r:embed="rId2"/>
          <a:stretch>
            <a:fillRect/>
          </a:stretch>
        </p:blipFill>
        <p:spPr>
          <a:xfrm>
            <a:off x="-91392" y="374219"/>
            <a:ext cx="4336388" cy="4242441"/>
          </a:xfrm>
          <a:prstGeom prst="rect">
            <a:avLst/>
          </a:prstGeom>
        </p:spPr>
      </p:pic>
      <p:pic>
        <p:nvPicPr>
          <p:cNvPr id="8" name="Imagen 7" descr="The image depicts two sine waveforms, one at 2 Vpp with a frequency of 0.5 Hz, showing two cycles, and another at 2 Vpp with a frequency of 1.5 Hz, with a constant high amplitude.&#10;&#10;El contenido generado por IA puede ser incorrecto.">
            <a:extLst>
              <a:ext uri="{FF2B5EF4-FFF2-40B4-BE49-F238E27FC236}">
                <a16:creationId xmlns:a16="http://schemas.microsoft.com/office/drawing/2014/main" id="{8D629148-5091-3A1B-DC54-22B1BC67A8DE}"/>
              </a:ext>
            </a:extLst>
          </p:cNvPr>
          <p:cNvPicPr>
            <a:picLocks noChangeAspect="1"/>
          </p:cNvPicPr>
          <p:nvPr/>
        </p:nvPicPr>
        <p:blipFill>
          <a:blip r:embed="rId3"/>
          <a:stretch>
            <a:fillRect/>
          </a:stretch>
        </p:blipFill>
        <p:spPr>
          <a:xfrm>
            <a:off x="4155346" y="781177"/>
            <a:ext cx="5057521" cy="3706045"/>
          </a:xfrm>
          <a:prstGeom prst="rect">
            <a:avLst/>
          </a:prstGeom>
        </p:spPr>
      </p:pic>
    </p:spTree>
    <p:extLst>
      <p:ext uri="{BB962C8B-B14F-4D97-AF65-F5344CB8AC3E}">
        <p14:creationId xmlns:p14="http://schemas.microsoft.com/office/powerpoint/2010/main" val="3364185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tx2"/>
                </a:solidFill>
              </a:rPr>
              <a:t>Simulación vs cálculo</a:t>
            </a:r>
            <a:endParaRPr lang="en-US" sz="3000" dirty="0"/>
          </a:p>
        </p:txBody>
      </p:sp>
      <p:sp>
        <p:nvSpPr>
          <p:cNvPr id="3" name="Dato 0"/>
          <p:cNvSpPr/>
          <p:nvPr/>
        </p:nvSpPr>
        <p:spPr>
          <a:xfrm>
            <a:off x="457200" y="1280160"/>
            <a:ext cx="1874520" cy="1737360"/>
          </a:xfrm>
          <a:prstGeom prst="roundRect">
            <a:avLst>
              <a:gd name="adj" fmla="val 5263"/>
            </a:avLst>
          </a:prstGeom>
          <a:solidFill>
            <a:schemeClr val="bg2"/>
          </a:solidFill>
          <a:ln w="12700">
            <a:solidFill>
              <a:schemeClr val="bg2"/>
            </a:solidFill>
            <a:prstDash val="solid"/>
          </a:ln>
        </p:spPr>
      </p:sp>
      <p:sp>
        <p:nvSpPr>
          <p:cNvPr id="4" name="Text 2"/>
          <p:cNvSpPr txBox="1"/>
          <p:nvPr/>
        </p:nvSpPr>
        <p:spPr>
          <a:xfrm>
            <a:off x="59436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4,90 V</a:t>
            </a:r>
            <a:endParaRPr lang="en-US" sz="3600" dirty="0"/>
          </a:p>
        </p:txBody>
      </p:sp>
      <p:sp>
        <p:nvSpPr>
          <p:cNvPr id="5" name="Text 3"/>
          <p:cNvSpPr txBox="1"/>
          <p:nvPr/>
        </p:nvSpPr>
        <p:spPr>
          <a:xfrm>
            <a:off x="59436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pico de Vr (calc. 4,90 V)</a:t>
            </a:r>
            <a:endParaRPr lang="en-US" sz="1300" dirty="0"/>
          </a:p>
        </p:txBody>
      </p:sp>
      <p:sp>
        <p:nvSpPr>
          <p:cNvPr id="6" name="Dato 1"/>
          <p:cNvSpPr/>
          <p:nvPr/>
        </p:nvSpPr>
        <p:spPr>
          <a:xfrm>
            <a:off x="2560320" y="1280160"/>
            <a:ext cx="1874520" cy="1737360"/>
          </a:xfrm>
          <a:prstGeom prst="roundRect">
            <a:avLst>
              <a:gd name="adj" fmla="val 5263"/>
            </a:avLst>
          </a:prstGeom>
          <a:solidFill>
            <a:schemeClr val="bg2"/>
          </a:solidFill>
          <a:ln w="12700">
            <a:solidFill>
              <a:schemeClr val="bg2"/>
            </a:solidFill>
            <a:prstDash val="solid"/>
          </a:ln>
        </p:spPr>
      </p:sp>
      <p:sp>
        <p:nvSpPr>
          <p:cNvPr id="7" name="Text 5"/>
          <p:cNvSpPr txBox="1"/>
          <p:nvPr/>
        </p:nvSpPr>
        <p:spPr>
          <a:xfrm>
            <a:off x="269748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400 ms</a:t>
            </a:r>
            <a:endParaRPr lang="en-US" sz="3600" dirty="0"/>
          </a:p>
        </p:txBody>
      </p:sp>
      <p:sp>
        <p:nvSpPr>
          <p:cNvPr id="8" name="Text 6"/>
          <p:cNvSpPr txBox="1"/>
          <p:nvPr/>
        </p:nvSpPr>
        <p:spPr>
          <a:xfrm>
            <a:off x="269748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ancho de salida (calc. 405 ms)</a:t>
            </a:r>
            <a:endParaRPr lang="en-US" sz="1300" dirty="0"/>
          </a:p>
        </p:txBody>
      </p:sp>
      <p:sp>
        <p:nvSpPr>
          <p:cNvPr id="9" name="Dato 2"/>
          <p:cNvSpPr/>
          <p:nvPr/>
        </p:nvSpPr>
        <p:spPr>
          <a:xfrm>
            <a:off x="4663440" y="1280160"/>
            <a:ext cx="1874520" cy="1737360"/>
          </a:xfrm>
          <a:prstGeom prst="roundRect">
            <a:avLst>
              <a:gd name="adj" fmla="val 5263"/>
            </a:avLst>
          </a:prstGeom>
          <a:solidFill>
            <a:schemeClr val="bg2"/>
          </a:solidFill>
          <a:ln w="12700">
            <a:solidFill>
              <a:schemeClr val="bg2"/>
            </a:solidFill>
            <a:prstDash val="solid"/>
          </a:ln>
        </p:spPr>
      </p:sp>
      <p:sp>
        <p:nvSpPr>
          <p:cNvPr id="10" name="Text 8"/>
          <p:cNvSpPr txBox="1"/>
          <p:nvPr/>
        </p:nvSpPr>
        <p:spPr>
          <a:xfrm>
            <a:off x="4800600" y="1508760"/>
            <a:ext cx="1600200" cy="685800"/>
          </a:xfrm>
          <a:prstGeom prst="rect">
            <a:avLst/>
          </a:prstGeom>
          <a:noFill/>
          <a:ln/>
        </p:spPr>
        <p:txBody>
          <a:bodyPr wrap="square" lIns="0" tIns="0" rIns="0" bIns="0" rtlCol="0" anchor="ctr"/>
          <a:lstStyle/>
          <a:p>
            <a:pPr marL="0" indent="0">
              <a:buNone/>
            </a:pPr>
            <a:r>
              <a:rPr lang="en-US" sz="3600" b="1" dirty="0">
                <a:solidFill>
                  <a:schemeClr val="accent1"/>
                </a:solidFill>
              </a:rPr>
              <a:t>2</a:t>
            </a:r>
            <a:endParaRPr lang="en-US" sz="3600" dirty="0"/>
          </a:p>
        </p:txBody>
      </p:sp>
      <p:sp>
        <p:nvSpPr>
          <p:cNvPr id="11" name="Text 9"/>
          <p:cNvSpPr txBox="1"/>
          <p:nvPr/>
        </p:nvSpPr>
        <p:spPr>
          <a:xfrm>
            <a:off x="480060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pulsos por ciclo con seno</a:t>
            </a:r>
            <a:endParaRPr lang="en-US" sz="1300" dirty="0"/>
          </a:p>
        </p:txBody>
      </p:sp>
      <p:sp>
        <p:nvSpPr>
          <p:cNvPr id="12" name="Dato 3"/>
          <p:cNvSpPr/>
          <p:nvPr/>
        </p:nvSpPr>
        <p:spPr>
          <a:xfrm>
            <a:off x="6766560" y="1280160"/>
            <a:ext cx="1874520" cy="1737360"/>
          </a:xfrm>
          <a:prstGeom prst="roundRect">
            <a:avLst>
              <a:gd name="adj" fmla="val 5263"/>
            </a:avLst>
          </a:prstGeom>
          <a:solidFill>
            <a:schemeClr val="bg2"/>
          </a:solidFill>
          <a:ln w="12700">
            <a:solidFill>
              <a:schemeClr val="bg2"/>
            </a:solidFill>
            <a:prstDash val="solid"/>
          </a:ln>
        </p:spPr>
      </p:sp>
      <p:sp>
        <p:nvSpPr>
          <p:cNvPr id="13" name="Text 11"/>
          <p:cNvSpPr txBox="1"/>
          <p:nvPr/>
        </p:nvSpPr>
        <p:spPr>
          <a:xfrm>
            <a:off x="6903720" y="1508760"/>
            <a:ext cx="1600200" cy="685800"/>
          </a:xfrm>
          <a:prstGeom prst="rect">
            <a:avLst/>
          </a:prstGeom>
          <a:noFill/>
          <a:ln/>
        </p:spPr>
        <p:txBody>
          <a:bodyPr wrap="square" lIns="0" tIns="0" rIns="0" bIns="0" rtlCol="0" anchor="ctr"/>
          <a:lstStyle/>
          <a:p>
            <a:pPr marL="0" indent="0">
              <a:buNone/>
            </a:pPr>
            <a:r>
              <a:rPr lang="en-US" sz="3600" b="1" dirty="0">
                <a:solidFill>
                  <a:schemeClr val="accent2"/>
                </a:solidFill>
              </a:rPr>
              <a:t>≤ 1,6 %</a:t>
            </a:r>
            <a:endParaRPr lang="en-US" sz="3600" dirty="0"/>
          </a:p>
        </p:txBody>
      </p:sp>
      <p:sp>
        <p:nvSpPr>
          <p:cNvPr id="14" name="Text 12"/>
          <p:cNvSpPr txBox="1"/>
          <p:nvPr/>
        </p:nvSpPr>
        <p:spPr>
          <a:xfrm>
            <a:off x="6903720" y="2194560"/>
            <a:ext cx="1600200" cy="411480"/>
          </a:xfrm>
          <a:prstGeom prst="rect">
            <a:avLst/>
          </a:prstGeom>
          <a:noFill/>
          <a:ln/>
        </p:spPr>
        <p:txBody>
          <a:bodyPr wrap="square" lIns="0" tIns="0" rIns="0" bIns="0" rtlCol="0" anchor="t"/>
          <a:lstStyle/>
          <a:p>
            <a:pPr marL="0" indent="0">
              <a:buNone/>
            </a:pPr>
            <a:r>
              <a:rPr lang="en-US" sz="1300" dirty="0">
                <a:solidFill>
                  <a:schemeClr val="accent3"/>
                </a:solidFill>
              </a:rPr>
              <a:t>error máximo</a:t>
            </a:r>
            <a:endParaRPr lang="en-US" sz="1300" dirty="0"/>
          </a:p>
        </p:txBody>
      </p:sp>
      <p:sp>
        <p:nvSpPr>
          <p:cNvPr id="15" name="Tarjeta Pendiente en el laboratorio"/>
          <p:cNvSpPr/>
          <p:nvPr/>
        </p:nvSpPr>
        <p:spPr>
          <a:xfrm>
            <a:off x="457200" y="3337560"/>
            <a:ext cx="8229600" cy="914400"/>
          </a:xfrm>
          <a:prstGeom prst="roundRect">
            <a:avLst>
              <a:gd name="adj" fmla="val 8000"/>
            </a:avLst>
          </a:prstGeom>
          <a:solidFill>
            <a:schemeClr val="bg2"/>
          </a:solidFill>
          <a:ln w="12700">
            <a:solidFill>
              <a:schemeClr val="bg2"/>
            </a:solidFill>
            <a:prstDash val="solid"/>
          </a:ln>
        </p:spPr>
      </p:sp>
      <p:sp>
        <p:nvSpPr>
          <p:cNvPr id="16" name="Text 14"/>
          <p:cNvSpPr txBox="1"/>
          <p:nvPr/>
        </p:nvSpPr>
        <p:spPr>
          <a:xfrm>
            <a:off x="640080" y="3474720"/>
            <a:ext cx="7863840" cy="64008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Pendiente en el laboratorio</a:t>
            </a:r>
            <a:endParaRPr lang="en-US" sz="1600" dirty="0"/>
          </a:p>
          <a:p>
            <a:pPr marL="342900" indent="-342900">
              <a:spcAft>
                <a:spcPts val="600"/>
              </a:spcAft>
              <a:buSzPct val="100000"/>
              <a:buChar char="•"/>
            </a:pPr>
            <a:r>
              <a:rPr lang="en-US" sz="1500" dirty="0">
                <a:solidFill>
                  <a:schemeClr val="tx1"/>
                </a:solidFill>
              </a:rPr>
              <a:t>Medir τ, VTH, VTL y offset en el montaje real</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chemeClr val="bg1"/>
                </a:solidFill>
              </a:rPr>
              <a:t>Conclusiones</a:t>
            </a:r>
            <a:endParaRPr lang="en-US" sz="3000" dirty="0"/>
          </a:p>
        </p:txBody>
      </p:sp>
      <p:sp>
        <p:nvSpPr>
          <p:cNvPr id="3" name="Punto 1"/>
          <p:cNvSpPr/>
          <p:nvPr/>
        </p:nvSpPr>
        <p:spPr>
          <a:xfrm>
            <a:off x="548640" y="12801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234440" y="118872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Polaridad  </a:t>
            </a:r>
            <a:r>
              <a:rPr lang="en-US" sz="1800" dirty="0">
                <a:solidFill>
                  <a:schemeClr val="bg1"/>
                </a:solidFill>
              </a:rPr>
              <a:t>El rectificador de precisión detecta ondas R positivas y negativas</a:t>
            </a:r>
            <a:endParaRPr lang="en-US" sz="1800" dirty="0"/>
          </a:p>
        </p:txBody>
      </p:sp>
      <p:sp>
        <p:nvSpPr>
          <p:cNvPr id="6" name="Punto 2"/>
          <p:cNvSpPr/>
          <p:nvPr/>
        </p:nvSpPr>
        <p:spPr>
          <a:xfrm>
            <a:off x="548640" y="21488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1488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1234440" y="205740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Un pulso  </a:t>
            </a:r>
            <a:r>
              <a:rPr lang="en-US" sz="1800" dirty="0">
                <a:solidFill>
                  <a:schemeClr val="bg1"/>
                </a:solidFill>
              </a:rPr>
              <a:t>El detector de pico funde el QRS; τ = 100 ms es el parámetro crítico</a:t>
            </a:r>
            <a:endParaRPr lang="en-US" sz="1800" dirty="0"/>
          </a:p>
        </p:txBody>
      </p:sp>
      <p:sp>
        <p:nvSpPr>
          <p:cNvPr id="9" name="Punto 3"/>
          <p:cNvSpPr/>
          <p:nvPr/>
        </p:nvSpPr>
        <p:spPr>
          <a:xfrm>
            <a:off x="548640" y="30175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0175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Text 9"/>
          <p:cNvSpPr txBox="1"/>
          <p:nvPr/>
        </p:nvSpPr>
        <p:spPr>
          <a:xfrm>
            <a:off x="1234440" y="292608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Sin rebotes  </a:t>
            </a:r>
            <a:r>
              <a:rPr lang="en-US" sz="1800" dirty="0">
                <a:solidFill>
                  <a:schemeClr val="bg1"/>
                </a:solidFill>
              </a:rPr>
              <a:t>La histéresis del Schmitt da transiciones limpias</a:t>
            </a:r>
            <a:endParaRPr lang="en-US" sz="1800" dirty="0"/>
          </a:p>
        </p:txBody>
      </p:sp>
      <p:sp>
        <p:nvSpPr>
          <p:cNvPr id="12" name="Punto 4"/>
          <p:cNvSpPr/>
          <p:nvPr/>
        </p:nvSpPr>
        <p:spPr>
          <a:xfrm>
            <a:off x="548640" y="388620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4" name="Text 12"/>
          <p:cNvSpPr txBox="1"/>
          <p:nvPr/>
        </p:nvSpPr>
        <p:spPr>
          <a:xfrm>
            <a:off x="1234440" y="3794760"/>
            <a:ext cx="7406640" cy="640080"/>
          </a:xfrm>
          <a:prstGeom prst="rect">
            <a:avLst/>
          </a:prstGeom>
          <a:noFill/>
          <a:ln/>
        </p:spPr>
        <p:txBody>
          <a:bodyPr wrap="square" lIns="0" tIns="0" rIns="0" bIns="0" rtlCol="0" anchor="ctr"/>
          <a:lstStyle/>
          <a:p>
            <a:pPr marL="0" indent="0">
              <a:buNone/>
            </a:pPr>
            <a:r>
              <a:rPr lang="en-US" sz="1800" b="1" dirty="0">
                <a:solidFill>
                  <a:schemeClr val="accent4"/>
                </a:solidFill>
              </a:rPr>
              <a:t>Validado  </a:t>
            </a:r>
            <a:r>
              <a:rPr lang="en-US" sz="1800" dirty="0">
                <a:solidFill>
                  <a:schemeClr val="bg1"/>
                </a:solidFill>
              </a:rPr>
              <a:t>Proteus coincide con el cálculo (error ≤ 1,6 %)</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7BEBC1-87FC-888B-24DB-ECB6CA3A1FB9}"/>
              </a:ext>
            </a:extLst>
          </p:cNvPr>
          <p:cNvSpPr>
            <a:spLocks noGrp="1"/>
          </p:cNvSpPr>
          <p:nvPr>
            <p:ph type="title" idx="100"/>
          </p:nvPr>
        </p:nvSpPr>
        <p:spPr>
          <a:xfrm>
            <a:off x="457200" y="1245340"/>
            <a:ext cx="8229600" cy="2365934"/>
          </a:xfrm>
        </p:spPr>
        <p:txBody>
          <a:bodyPr/>
          <a:lstStyle/>
          <a:p>
            <a:r>
              <a:rPr lang="es-ES" dirty="0"/>
              <a:t>Referencias</a:t>
            </a:r>
            <a:br>
              <a:rPr lang="es-ES" dirty="0"/>
            </a:br>
            <a:r>
              <a:rPr lang="es-ES" dirty="0"/>
              <a:t> </a:t>
            </a:r>
            <a:br>
              <a:rPr lang="es-ES" dirty="0"/>
            </a:br>
            <a:r>
              <a:rPr lang="es-ES" dirty="0"/>
              <a:t>https://github.com/Brahiam18/detector-latido-ecg/tree/main</a:t>
            </a:r>
            <a:endParaRPr lang="es-CO" dirty="0"/>
          </a:p>
        </p:txBody>
      </p:sp>
    </p:spTree>
    <p:extLst>
      <p:ext uri="{BB962C8B-B14F-4D97-AF65-F5344CB8AC3E}">
        <p14:creationId xmlns:p14="http://schemas.microsoft.com/office/powerpoint/2010/main" val="3664958303"/>
      </p:ext>
    </p:extLst>
  </p:cSld>
  <p:clrMapOvr>
    <a:masterClrMapping/>
  </p:clrMapOvr>
</p:sld>
</file>

<file path=ppt/theme/theme1.xml><?xml version="1.0" encoding="utf-8"?>
<a:theme xmlns:a="http://schemas.openxmlformats.org/drawingml/2006/main" name="ECG Clinico">
  <a:themeElements>
    <a:clrScheme name="ECG Clinico">
      <a:dk1>
        <a:srgbClr val="17242F"/>
      </a:dk1>
      <a:lt1>
        <a:srgbClr val="FFFFFF"/>
      </a:lt1>
      <a:dk2>
        <a:srgbClr val="0F2A3D"/>
      </a:dk2>
      <a:lt2>
        <a:srgbClr val="EEF4F5"/>
      </a:lt2>
      <a:accent1>
        <a:srgbClr val="0E8C88"/>
      </a:accent1>
      <a:accent2>
        <a:srgbClr val="E4572E"/>
      </a:accent2>
      <a:accent3>
        <a:srgbClr val="5B7A8C"/>
      </a:accent3>
      <a:accent4>
        <a:srgbClr val="9DC9C6"/>
      </a:accent4>
      <a:accent5>
        <a:srgbClr val="F2B134"/>
      </a:accent5>
      <a:accent6>
        <a:srgbClr val="2F4858"/>
      </a:accent6>
      <a:hlink>
        <a:srgbClr val="0E8C88"/>
      </a:hlink>
      <a:folHlink>
        <a:srgbClr val="5B7A8C"/>
      </a:folHlink>
    </a:clrScheme>
    <a:fontScheme name="ECG Clinic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1058</Words>
  <Application>Microsoft Office PowerPoint</Application>
  <PresentationFormat>Presentación en pantalla (16:9)</PresentationFormat>
  <Paragraphs>140</Paragraphs>
  <Slides>29</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29</vt:i4>
      </vt:variant>
    </vt:vector>
  </HeadingPairs>
  <TitlesOfParts>
    <vt:vector size="32" baseType="lpstr">
      <vt:lpstr>Arial</vt:lpstr>
      <vt:lpstr>Calibri</vt:lpstr>
      <vt:lpstr>ECG Clinico</vt:lpstr>
      <vt:lpstr>Detector de latido ECG con op-amps</vt:lpstr>
      <vt:lpstr>Problema</vt:lpstr>
      <vt:lpstr>Un pulso por latido, sin importar la polaridad</vt:lpstr>
      <vt:lpstr>Circuito completo: 6 op-amps a ±12 V</vt:lpstr>
      <vt:lpstr>Etapa 1 · Amplificador no inversor</vt:lpstr>
      <vt:lpstr>Presentación de PowerPoint</vt:lpstr>
      <vt:lpstr>Etapa 2 · Rectificador de precisión</vt:lpstr>
      <vt:lpstr>Presentación de PowerPoint</vt:lpstr>
      <vt:lpstr>Presentación de PowerPoint</vt:lpstr>
      <vt:lpstr>Etapa 2 · Sumador: de media onda a |Vg|</vt:lpstr>
      <vt:lpstr>Presentación de PowerPoint</vt:lpstr>
      <vt:lpstr>Presentación de PowerPoint</vt:lpstr>
      <vt:lpstr>Presentación de PowerPoint</vt:lpstr>
      <vt:lpstr>Etapa 3 · Detector de pico</vt:lpstr>
      <vt:lpstr>Presentación de PowerPoint</vt:lpstr>
      <vt:lpstr>Presentación de PowerPoint</vt:lpstr>
      <vt:lpstr>Presentación de PowerPoint</vt:lpstr>
      <vt:lpstr>Presentación de PowerPoint</vt:lpstr>
      <vt:lpstr>τ fija la frecuencia cardiaca máxima</vt:lpstr>
      <vt:lpstr>Presentación de PowerPoint</vt:lpstr>
      <vt:lpstr>Etapa 4 · Comparador Schmitt</vt:lpstr>
      <vt:lpstr>Presentación de PowerPoint</vt:lpstr>
      <vt:lpstr>Presentación de PowerPoint</vt:lpstr>
      <vt:lpstr>Presentación de PowerPoint</vt:lpstr>
      <vt:lpstr>Simulación en Proteus</vt:lpstr>
      <vt:lpstr>Presentación de PowerPoint</vt:lpstr>
      <vt:lpstr>Simulación vs cálculo</vt:lpstr>
      <vt:lpstr>Conclusiones</vt:lpstr>
      <vt:lpstr>Referencias   https://github.com/Brahiam18/detector-latido-ecg/tree/main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Detector de latido ECG con amplificadores operacionales</dc:title>
  <dc:subject>PptxGenJS Presentation</dc:subject>
  <dc:creator>Brahiam Alberto Campiño Romero</dc:creator>
  <cp:lastModifiedBy>BRAHIAM CAMPIÑO</cp:lastModifiedBy>
  <cp:revision>4</cp:revision>
  <dcterms:created xsi:type="dcterms:W3CDTF">2026-10-08T00:37:59Z</dcterms:created>
  <dcterms:modified xsi:type="dcterms:W3CDTF">2026-10-08T21:55:46Z</dcterms:modified>
</cp:coreProperties>
</file>