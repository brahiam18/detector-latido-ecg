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cb6c9ccb-aacf-9a28-de6f-442b230d34ef}">
          <p14:sldIdLst>
            <p14:sldId id="256"/>
            <p14:sldId id="257"/>
          </p14:sldIdLst>
        </p14:section>
        <p14:section name="Diseño" id="{29fde193-439a-c5db-6cee-6e4049a70c5f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sultados" id="{9dc1c459-cd62-71d0-34a1-315218d7f07a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τ = 68 ms</c:v>
                </c:pt>
              </c:strCache>
            </c:strRef>
          </c:tx>
          <c:spPr>
            <a:solidFill>
              <a:srgbClr val="9DC9C6"/>
            </a:solidFill>
            <a:ln w="31750" cap="flat">
              <a:solidFill>
                <a:srgbClr val="9DC9C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DC9C6"/>
              </a:solidFill>
              <a:ln w="9525" cap="flat">
                <a:solidFill>
                  <a:srgbClr val="9DC9C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0,3</c:v>
                  </c:pt>
                  <c:pt idx="1">
                    <c:v>0,4</c:v>
                  </c:pt>
                  <c:pt idx="2">
                    <c:v>0,5</c:v>
                  </c:pt>
                  <c:pt idx="3">
                    <c:v>0,6</c:v>
                  </c:pt>
                  <c:pt idx="4">
                    <c:v>0,7</c:v>
                  </c:pt>
                  <c:pt idx="5">
                    <c:v>0,8</c:v>
                  </c:pt>
                  <c:pt idx="6">
                    <c:v>0,9</c:v>
                  </c:pt>
                  <c:pt idx="7">
                    <c:v>1,0</c:v>
                  </c:pt>
                  <c:pt idx="8">
                    <c:v>1,1</c:v>
                  </c:pt>
                  <c:pt idx="9">
                    <c:v>1,2</c:v>
                  </c:pt>
                  <c:pt idx="10">
                    <c:v>1,3</c:v>
                  </c:pt>
                  <c:pt idx="11">
                    <c:v>1,4</c:v>
                  </c:pt>
                  <c:pt idx="12">
                    <c:v>1,5</c:v>
                  </c:pt>
                  <c:pt idx="13">
                    <c:v>1,6</c:v>
                  </c:pt>
                  <c:pt idx="14">
                    <c:v>1,7</c:v>
                  </c:pt>
                  <c:pt idx="15">
                    <c:v>1,8</c:v>
                  </c:pt>
                  <c:pt idx="16">
                    <c:v>1,9</c:v>
                  </c:pt>
                  <c:pt idx="17">
                    <c:v>2,0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413</c:v>
                </c:pt>
                <c:pt idx="1">
                  <c:v>364</c:v>
                </c:pt>
                <c:pt idx="2">
                  <c:v>333</c:v>
                </c:pt>
                <c:pt idx="3">
                  <c:v>312</c:v>
                </c:pt>
                <c:pt idx="4">
                  <c:v>296</c:v>
                </c:pt>
                <c:pt idx="5">
                  <c:v>283</c:v>
                </c:pt>
                <c:pt idx="6">
                  <c:v>273</c:v>
                </c:pt>
                <c:pt idx="7">
                  <c:v>264</c:v>
                </c:pt>
                <c:pt idx="8">
                  <c:v>257</c:v>
                </c:pt>
                <c:pt idx="9">
                  <c:v>250</c:v>
                </c:pt>
                <c:pt idx="10">
                  <c:v>245</c:v>
                </c:pt>
                <c:pt idx="11">
                  <c:v>240</c:v>
                </c:pt>
                <c:pt idx="12">
                  <c:v>236</c:v>
                </c:pt>
                <c:pt idx="13">
                  <c:v>232</c:v>
                </c:pt>
                <c:pt idx="14">
                  <c:v>228</c:v>
                </c:pt>
                <c:pt idx="15">
                  <c:v>225</c:v>
                </c:pt>
                <c:pt idx="16">
                  <c:v>222</c:v>
                </c:pt>
                <c:pt idx="17">
                  <c:v>219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τ = 100 ms (diseño)</c:v>
                </c:pt>
              </c:strCache>
            </c:strRef>
          </c:tx>
          <c:spPr>
            <a:solidFill>
              <a:srgbClr val="0E8C88"/>
            </a:solidFill>
            <a:ln w="31750" cap="flat">
              <a:solidFill>
                <a:srgbClr val="0E8C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8C88"/>
              </a:solidFill>
              <a:ln w="9525" cap="flat">
                <a:solidFill>
                  <a:srgbClr val="0E8C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0,3</c:v>
                  </c:pt>
                  <c:pt idx="1">
                    <c:v>0,4</c:v>
                  </c:pt>
                  <c:pt idx="2">
                    <c:v>0,5</c:v>
                  </c:pt>
                  <c:pt idx="3">
                    <c:v>0,6</c:v>
                  </c:pt>
                  <c:pt idx="4">
                    <c:v>0,7</c:v>
                  </c:pt>
                  <c:pt idx="5">
                    <c:v>0,8</c:v>
                  </c:pt>
                  <c:pt idx="6">
                    <c:v>0,9</c:v>
                  </c:pt>
                  <c:pt idx="7">
                    <c:v>1,0</c:v>
                  </c:pt>
                  <c:pt idx="8">
                    <c:v>1,1</c:v>
                  </c:pt>
                  <c:pt idx="9">
                    <c:v>1,2</c:v>
                  </c:pt>
                  <c:pt idx="10">
                    <c:v>1,3</c:v>
                  </c:pt>
                  <c:pt idx="11">
                    <c:v>1,4</c:v>
                  </c:pt>
                  <c:pt idx="12">
                    <c:v>1,5</c:v>
                  </c:pt>
                  <c:pt idx="13">
                    <c:v>1,6</c:v>
                  </c:pt>
                  <c:pt idx="14">
                    <c:v>1,7</c:v>
                  </c:pt>
                  <c:pt idx="15">
                    <c:v>1,8</c:v>
                  </c:pt>
                  <c:pt idx="16">
                    <c:v>1,9</c:v>
                  </c:pt>
                  <c:pt idx="17">
                    <c:v>2,0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336</c:v>
                </c:pt>
                <c:pt idx="1">
                  <c:v>290</c:v>
                </c:pt>
                <c:pt idx="2">
                  <c:v>262</c:v>
                </c:pt>
                <c:pt idx="3">
                  <c:v>242</c:v>
                </c:pt>
                <c:pt idx="4">
                  <c:v>228</c:v>
                </c:pt>
                <c:pt idx="5">
                  <c:v>217</c:v>
                </c:pt>
                <c:pt idx="6">
                  <c:v>208</c:v>
                </c:pt>
                <c:pt idx="7">
                  <c:v>201</c:v>
                </c:pt>
                <c:pt idx="8">
                  <c:v>195</c:v>
                </c:pt>
                <c:pt idx="9">
                  <c:v>189</c:v>
                </c:pt>
                <c:pt idx="10">
                  <c:v>185</c:v>
                </c:pt>
                <c:pt idx="11">
                  <c:v>181</c:v>
                </c:pt>
                <c:pt idx="12">
                  <c:v>177</c:v>
                </c:pt>
                <c:pt idx="13">
                  <c:v>174</c:v>
                </c:pt>
                <c:pt idx="14">
                  <c:v>171</c:v>
                </c:pt>
                <c:pt idx="15">
                  <c:v>168</c:v>
                </c:pt>
                <c:pt idx="16">
                  <c:v>165</c:v>
                </c:pt>
                <c:pt idx="17">
                  <c:v>163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τ = 150 ms</c:v>
                </c:pt>
              </c:strCache>
            </c:strRef>
          </c:tx>
          <c:spPr>
            <a:solidFill>
              <a:srgbClr val="E4572E"/>
            </a:solidFill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0,3</c:v>
                  </c:pt>
                  <c:pt idx="1">
                    <c:v>0,4</c:v>
                  </c:pt>
                  <c:pt idx="2">
                    <c:v>0,5</c:v>
                  </c:pt>
                  <c:pt idx="3">
                    <c:v>0,6</c:v>
                  </c:pt>
                  <c:pt idx="4">
                    <c:v>0,7</c:v>
                  </c:pt>
                  <c:pt idx="5">
                    <c:v>0,8</c:v>
                  </c:pt>
                  <c:pt idx="6">
                    <c:v>0,9</c:v>
                  </c:pt>
                  <c:pt idx="7">
                    <c:v>1,0</c:v>
                  </c:pt>
                  <c:pt idx="8">
                    <c:v>1,1</c:v>
                  </c:pt>
                  <c:pt idx="9">
                    <c:v>1,2</c:v>
                  </c:pt>
                  <c:pt idx="10">
                    <c:v>1,3</c:v>
                  </c:pt>
                  <c:pt idx="11">
                    <c:v>1,4</c:v>
                  </c:pt>
                  <c:pt idx="12">
                    <c:v>1,5</c:v>
                  </c:pt>
                  <c:pt idx="13">
                    <c:v>1,6</c:v>
                  </c:pt>
                  <c:pt idx="14">
                    <c:v>1,7</c:v>
                  </c:pt>
                  <c:pt idx="15">
                    <c:v>1,8</c:v>
                  </c:pt>
                  <c:pt idx="16">
                    <c:v>1,9</c:v>
                  </c:pt>
                  <c:pt idx="17">
                    <c:v>2,0</c:v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261</c:v>
                </c:pt>
                <c:pt idx="1">
                  <c:v>220</c:v>
                </c:pt>
                <c:pt idx="2">
                  <c:v>196</c:v>
                </c:pt>
                <c:pt idx="3">
                  <c:v>180</c:v>
                </c:pt>
                <c:pt idx="4">
                  <c:v>168</c:v>
                </c:pt>
                <c:pt idx="5">
                  <c:v>159</c:v>
                </c:pt>
                <c:pt idx="6">
                  <c:v>152</c:v>
                </c:pt>
                <c:pt idx="7">
                  <c:v>146</c:v>
                </c:pt>
                <c:pt idx="8">
                  <c:v>141</c:v>
                </c:pt>
                <c:pt idx="9">
                  <c:v>137</c:v>
                </c:pt>
                <c:pt idx="10">
                  <c:v>133</c:v>
                </c:pt>
                <c:pt idx="11">
                  <c:v>130</c:v>
                </c:pt>
                <c:pt idx="12">
                  <c:v>127</c:v>
                </c:pt>
                <c:pt idx="13">
                  <c:v>125</c:v>
                </c:pt>
                <c:pt idx="14">
                  <c:v>122</c:v>
                </c:pt>
                <c:pt idx="15">
                  <c:v>120</c:v>
                </c:pt>
                <c:pt idx="16">
                  <c:v>118</c:v>
                </c:pt>
                <c:pt idx="17">
                  <c:v>117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Objetivo 150 lpm</c:v>
                </c:pt>
              </c:strCache>
            </c:strRef>
          </c:tx>
          <c:spPr>
            <a:solidFill>
              <a:srgbClr val="9AA7B0"/>
            </a:solidFill>
            <a:ln w="31750" cap="flat">
              <a:solidFill>
                <a:srgbClr val="9AA7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7B0"/>
              </a:solidFill>
              <a:ln w="9525" cap="flat">
                <a:solidFill>
                  <a:srgbClr val="9AA7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0,3</c:v>
                  </c:pt>
                  <c:pt idx="1">
                    <c:v>0,4</c:v>
                  </c:pt>
                  <c:pt idx="2">
                    <c:v>0,5</c:v>
                  </c:pt>
                  <c:pt idx="3">
                    <c:v>0,6</c:v>
                  </c:pt>
                  <c:pt idx="4">
                    <c:v>0,7</c:v>
                  </c:pt>
                  <c:pt idx="5">
                    <c:v>0,8</c:v>
                  </c:pt>
                  <c:pt idx="6">
                    <c:v>0,9</c:v>
                  </c:pt>
                  <c:pt idx="7">
                    <c:v>1,0</c:v>
                  </c:pt>
                  <c:pt idx="8">
                    <c:v>1,1</c:v>
                  </c:pt>
                  <c:pt idx="9">
                    <c:v>1,2</c:v>
                  </c:pt>
                  <c:pt idx="10">
                    <c:v>1,3</c:v>
                  </c:pt>
                  <c:pt idx="11">
                    <c:v>1,4</c:v>
                  </c:pt>
                  <c:pt idx="12">
                    <c:v>1,5</c:v>
                  </c:pt>
                  <c:pt idx="13">
                    <c:v>1,6</c:v>
                  </c:pt>
                  <c:pt idx="14">
                    <c:v>1,7</c:v>
                  </c:pt>
                  <c:pt idx="15">
                    <c:v>1,8</c:v>
                  </c:pt>
                  <c:pt idx="16">
                    <c:v>1,9</c:v>
                  </c:pt>
                  <c:pt idx="17">
                    <c:v>2,0</c:v>
                  </c:pt>
                </c:lvl>
              </c:multiLvlStrCache>
            </c:multiLvl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150</c:v>
                </c:pt>
                <c:pt idx="1">
                  <c:v>150</c:v>
                </c:pt>
                <c:pt idx="2">
                  <c:v>150</c:v>
                </c:pt>
                <c:pt idx="3">
                  <c:v>150</c:v>
                </c:pt>
                <c:pt idx="4">
                  <c:v>150</c:v>
                </c:pt>
                <c:pt idx="5">
                  <c:v>150</c:v>
                </c:pt>
                <c:pt idx="6">
                  <c:v>150</c:v>
                </c:pt>
                <c:pt idx="7">
                  <c:v>150</c:v>
                </c:pt>
                <c:pt idx="8">
                  <c:v>150</c:v>
                </c:pt>
                <c:pt idx="9">
                  <c:v>150</c:v>
                </c:pt>
                <c:pt idx="10">
                  <c:v>150</c:v>
                </c:pt>
                <c:pt idx="11">
                  <c:v>150</c:v>
                </c:pt>
                <c:pt idx="12">
                  <c:v>150</c:v>
                </c:pt>
                <c:pt idx="13">
                  <c:v>150</c:v>
                </c:pt>
                <c:pt idx="14">
                  <c:v>150</c:v>
                </c:pt>
                <c:pt idx="15">
                  <c:v>150</c:v>
                </c:pt>
                <c:pt idx="16">
                  <c:v>150</c:v>
                </c:pt>
                <c:pt idx="17">
                  <c:v>150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7A8C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7A8C"/>
                    </a:solidFill>
                    <a:latin typeface="+mn-lt"/>
                  </a:rPr>
                  <a:t>Amplitud de entrada (Vpp)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A8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9525" cap="flat">
              <a:solidFill>
                <a:srgbClr val="DDE5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7A8C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7A8C"/>
                    </a:solidFill>
                    <a:latin typeface="+mn-lt"/>
                  </a:rPr>
                  <a:t>FC máxima (lpm)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A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724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detector de latido: el objetivo es entregar un pulso limpio por cada complejo QRS usando solo amplificadores operacionales.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bloque resuelve un problema: el rectificador elimina la dependencia de la polaridad, el detector de pico une los lóbulos del QRS en un solo evento y el Schmitt convierte la envolvente en un pulso digital limpio.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fila: amplificador, rectificador de media onda y sumador. Segunda fila: detector de pico con buffer, comparador Schmitt y LED. El osciloscopio mide entrada, Vr, Venv y salida.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ganancia debe estar entre 4,04 (para superar el umbral con margen) y 5,25 (para no saturar). 39 k sobre 10 k da 4,9 con valores comerciales.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diodo está dentro del lazo: el op-amp mueve su salida 0,6 V extra y esa caída no aparece en Vhw. D1 evita que el op-amp se sature en el semiciclo negativo.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R4 entra la señal completa con peso 1 y por R5 la media onda con peso 2. En el semiciclo positivo eso voltea el signo; en el negativo solo actúa R4. Las resistencias deben ser al 1 %.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τ mayor que 90 ms para no soltar el latido entre los lóbulos del QRS; menor que 110 ms para liberarse antes del siguiente latido a 150 lpm. El buffer evita que R8 descargue el condensador.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pico más grande tarda más en descargarse, por eso el límite baja con la amplitud. Con τ = 100 ms el peor caso (2 Vpp) queda en 163 lpm, por encima del objetivo de 150 lpm. La simulación confirmó que a 180 lpm con 2 Vpp el comparador se queda en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Realimentación positiva: no hay corto virtual. VTH queda por debajo del pico mínimo (1,22 V) y VTL muy por encima del offset. La histéresis evita rebotes por ruido.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Pulso: la envolvente se mantiene y decae; la salida dura unos 400 ms. Seno: dos pulsos por ciclo, prueba de que se detectan ambas polaridades. Latido sintético: un solo pulso por latido aunque haya varios lóbulos y onda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valores de Proteus coinciden con los calculados con errores de 1,6 % o menos. Falta comparar con las mediciones del montaje.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Mejoras posibles: amplificador de instrumentación con filtro pasa banda, umbral adaptativo y conteo de latidos con un microcontrolador.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Detector de latido ECG con op-amps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Rectificador de precisión · detector de pico · comparador Schmitt</a:t>
            </a:r>
            <a:endParaRPr lang="en-US" sz="2000" dirty="0"/>
          </a:p>
        </p:txBody>
      </p:sp>
      <p:sp>
        <p:nvSpPr>
          <p:cNvPr id="4" name="ECG 1"/>
          <p:cNvSpPr/>
          <p:nvPr/>
        </p:nvSpPr>
        <p:spPr>
          <a:xfrm>
            <a:off x="548640" y="3657600"/>
            <a:ext cx="201168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5" name="ECG 2"/>
          <p:cNvSpPr/>
          <p:nvPr/>
        </p:nvSpPr>
        <p:spPr>
          <a:xfrm flipV="1">
            <a:off x="2560320" y="3246120"/>
            <a:ext cx="228600" cy="41148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6" name="ECG 3"/>
          <p:cNvSpPr/>
          <p:nvPr/>
        </p:nvSpPr>
        <p:spPr>
          <a:xfrm>
            <a:off x="2788920" y="3246120"/>
            <a:ext cx="182880" cy="68580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7" name="ECG 4"/>
          <p:cNvSpPr/>
          <p:nvPr/>
        </p:nvSpPr>
        <p:spPr>
          <a:xfrm flipV="1">
            <a:off x="2971800" y="3657600"/>
            <a:ext cx="137160" cy="2743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8" name="ECG 5"/>
          <p:cNvSpPr/>
          <p:nvPr/>
        </p:nvSpPr>
        <p:spPr>
          <a:xfrm>
            <a:off x="3108960" y="3657600"/>
            <a:ext cx="548640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069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Brahiam Alberto Campiño Romero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Docente: Ing. Rodolfo José Gutiérrez González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Circuitos no lineales · Universidad de Ibagué ·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pulso por latido, sin importar la polaridad</a:t>
            </a:r>
            <a:endParaRPr lang="en-US" sz="3000" dirty="0"/>
          </a:p>
        </p:txBody>
      </p:sp>
      <p:sp>
        <p:nvSpPr>
          <p:cNvPr id="3" name="Bloque Amplificador"/>
          <p:cNvSpPr/>
          <p:nvPr/>
        </p:nvSpPr>
        <p:spPr>
          <a:xfrm>
            <a:off x="457200" y="1463040"/>
            <a:ext cx="14173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14173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Amplificador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×4,9</a:t>
            </a:r>
            <a:endParaRPr lang="en-US" sz="1500" dirty="0"/>
          </a:p>
        </p:txBody>
      </p:sp>
      <p:sp>
        <p:nvSpPr>
          <p:cNvPr id="5" name="Flecha 0"/>
          <p:cNvSpPr/>
          <p:nvPr/>
        </p:nvSpPr>
        <p:spPr>
          <a:xfrm>
            <a:off x="1911096" y="1892808"/>
            <a:ext cx="201168" cy="237744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Bloque Rectificador"/>
          <p:cNvSpPr/>
          <p:nvPr/>
        </p:nvSpPr>
        <p:spPr>
          <a:xfrm>
            <a:off x="2148840" y="1463040"/>
            <a:ext cx="141732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463040"/>
            <a:ext cx="14173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Rectificador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|Vg|</a:t>
            </a:r>
            <a:endParaRPr lang="en-US" sz="1500" dirty="0"/>
          </a:p>
        </p:txBody>
      </p:sp>
      <p:sp>
        <p:nvSpPr>
          <p:cNvPr id="8" name="Flecha 1"/>
          <p:cNvSpPr/>
          <p:nvPr/>
        </p:nvSpPr>
        <p:spPr>
          <a:xfrm>
            <a:off x="3602736" y="1892808"/>
            <a:ext cx="201168" cy="237744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Bloque Detector de pico"/>
          <p:cNvSpPr/>
          <p:nvPr/>
        </p:nvSpPr>
        <p:spPr>
          <a:xfrm>
            <a:off x="3840480" y="1463040"/>
            <a:ext cx="141732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1463040"/>
            <a:ext cx="14173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Detector de pico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τ = 100 ms</a:t>
            </a:r>
            <a:endParaRPr lang="en-US" sz="1500" dirty="0"/>
          </a:p>
        </p:txBody>
      </p:sp>
      <p:sp>
        <p:nvSpPr>
          <p:cNvPr id="11" name="Flecha 2"/>
          <p:cNvSpPr/>
          <p:nvPr/>
        </p:nvSpPr>
        <p:spPr>
          <a:xfrm>
            <a:off x="5294376" y="1892808"/>
            <a:ext cx="201168" cy="237744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Bloque Schmitt"/>
          <p:cNvSpPr/>
          <p:nvPr/>
        </p:nvSpPr>
        <p:spPr>
          <a:xfrm>
            <a:off x="5532120" y="1463040"/>
            <a:ext cx="141732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32120" y="1463040"/>
            <a:ext cx="14173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Schmitt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1,01 / 0,52 V</a:t>
            </a:r>
            <a:endParaRPr lang="en-US" sz="1500" dirty="0"/>
          </a:p>
        </p:txBody>
      </p:sp>
      <p:sp>
        <p:nvSpPr>
          <p:cNvPr id="14" name="Flecha 3"/>
          <p:cNvSpPr/>
          <p:nvPr/>
        </p:nvSpPr>
        <p:spPr>
          <a:xfrm>
            <a:off x="6986016" y="1892808"/>
            <a:ext cx="201168" cy="237744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Bloque LED"/>
          <p:cNvSpPr/>
          <p:nvPr/>
        </p:nvSpPr>
        <p:spPr>
          <a:xfrm>
            <a:off x="7223760" y="1463040"/>
            <a:ext cx="14173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0" y="1463040"/>
            <a:ext cx="14173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LED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salida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148840" y="265176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Bloques no lineales</a:t>
            </a:r>
            <a:endParaRPr lang="en-US" sz="1300" dirty="0"/>
          </a:p>
        </p:txBody>
      </p:sp>
      <p:sp>
        <p:nvSpPr>
          <p:cNvPr id="18" name="Tarjeta Por qué no basta un circuito lineal"/>
          <p:cNvSpPr/>
          <p:nvPr/>
        </p:nvSpPr>
        <p:spPr>
          <a:xfrm>
            <a:off x="457200" y="324612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3832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qué no basta un circuito lineal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 onda R puede ser positiva o negativa → rectificar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QRS tiene varios lóbulos → fundirlos en uno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Circuito completo: 6 op-amps a ±12 V</a:t>
            </a:r>
            <a:endParaRPr lang="en-US" sz="3000" dirty="0"/>
          </a:p>
        </p:txBody>
      </p:sp>
      <p:pic>
        <p:nvPicPr>
          <p:cNvPr id="3" name="Esquema Proteus" descr="/home/claude/informe_latex/figuras/proteus_esqu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938" y="1005840"/>
            <a:ext cx="7648124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Simulado en Proteus con LM741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Etapa 1 · Amplificador no inversor</a:t>
            </a:r>
            <a:endParaRPr lang="en-US" sz="3000" dirty="0"/>
          </a:p>
        </p:txBody>
      </p:sp>
      <p:sp>
        <p:nvSpPr>
          <p:cNvPr id="3" name="Etapa 1"/>
          <p:cNvSpPr/>
          <p:nvPr/>
        </p:nvSpPr>
        <p:spPr>
          <a:xfrm>
            <a:off x="8229600" y="365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365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pic>
        <p:nvPicPr>
          <p:cNvPr id="5" name="Cálculo amplificador" descr="/home/claude/informe_latex/figuras/calc_amplif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150" y="1051560"/>
            <a:ext cx="5041861" cy="3840480"/>
          </a:xfrm>
          <a:prstGeom prst="rect">
            <a:avLst/>
          </a:prstGeom>
        </p:spPr>
      </p:pic>
      <p:sp>
        <p:nvSpPr>
          <p:cNvPr id="6" name="Tarjeta Lo esencial"/>
          <p:cNvSpPr/>
          <p:nvPr/>
        </p:nvSpPr>
        <p:spPr>
          <a:xfrm>
            <a:off x="5760720" y="1051560"/>
            <a:ext cx="29260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1188720"/>
            <a:ext cx="2560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Lo esencial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Vg = Vin (1 + Rf1/Rg1)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Av = 4,9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Rg1 = 10 kΩ → Rf1 = 39 kΩ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0,5–2 Vpp → 2,45–9,8 V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6118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Av = 4,9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ventana válida: 4,04 a 5,25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Etapa 2 · Rectificador de precisión</a:t>
            </a:r>
            <a:endParaRPr lang="en-US" sz="3000" dirty="0"/>
          </a:p>
        </p:txBody>
      </p:sp>
      <p:sp>
        <p:nvSpPr>
          <p:cNvPr id="3" name="Etapa 2"/>
          <p:cNvSpPr/>
          <p:nvPr/>
        </p:nvSpPr>
        <p:spPr>
          <a:xfrm>
            <a:off x="8229600" y="365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365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pic>
        <p:nvPicPr>
          <p:cNvPr id="5" name="Cálculo media onda" descr="/home/claude/informe_latex/figuras/calc_rectif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173" y="1051560"/>
            <a:ext cx="5107654" cy="2697480"/>
          </a:xfrm>
          <a:prstGeom prst="rect">
            <a:avLst/>
          </a:prstGeom>
        </p:spPr>
      </p:pic>
      <p:sp>
        <p:nvSpPr>
          <p:cNvPr id="6" name="Caso Vg &gt; 0"/>
          <p:cNvSpPr/>
          <p:nvPr/>
        </p:nvSpPr>
        <p:spPr>
          <a:xfrm>
            <a:off x="457200" y="3931920"/>
            <a:ext cx="2606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9319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Vg &gt; 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D2 conduce · Vhw = −Vg</a:t>
            </a:r>
            <a:endParaRPr lang="en-US" sz="1600" dirty="0"/>
          </a:p>
        </p:txBody>
      </p:sp>
      <p:sp>
        <p:nvSpPr>
          <p:cNvPr id="8" name="Caso Vg &lt; 0"/>
          <p:cNvSpPr/>
          <p:nvPr/>
        </p:nvSpPr>
        <p:spPr>
          <a:xfrm>
            <a:off x="3355848" y="3931920"/>
            <a:ext cx="2606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93008" y="39319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Vg &lt; 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D1 conduce · Vhw = 0</a:t>
            </a:r>
            <a:endParaRPr lang="en-US" sz="1600" dirty="0"/>
          </a:p>
        </p:txBody>
      </p:sp>
      <p:sp>
        <p:nvSpPr>
          <p:cNvPr id="10" name="Caso Precisión"/>
          <p:cNvSpPr/>
          <p:nvPr/>
        </p:nvSpPr>
        <p:spPr>
          <a:xfrm>
            <a:off x="6254496" y="3931920"/>
            <a:ext cx="2606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91656" y="39319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Precisión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Zona muerta ≈ 3 µV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Etapa 2 · Sumador: de media onda a |Vg|</a:t>
            </a:r>
            <a:endParaRPr lang="en-US" sz="3000" dirty="0"/>
          </a:p>
        </p:txBody>
      </p:sp>
      <p:sp>
        <p:nvSpPr>
          <p:cNvPr id="3" name="Etapa 2"/>
          <p:cNvSpPr/>
          <p:nvPr/>
        </p:nvSpPr>
        <p:spPr>
          <a:xfrm>
            <a:off x="8229600" y="365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365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pic>
        <p:nvPicPr>
          <p:cNvPr id="5" name="Cálculo sumador" descr="/home/claude/informe_latex/figuras/calc_sum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0310" y="1051560"/>
            <a:ext cx="5031540" cy="3840480"/>
          </a:xfrm>
          <a:prstGeom prst="rect">
            <a:avLst/>
          </a:prstGeom>
        </p:spPr>
      </p:pic>
      <p:sp>
        <p:nvSpPr>
          <p:cNvPr id="6" name="Tarjeta Lo esencial"/>
          <p:cNvSpPr/>
          <p:nvPr/>
        </p:nvSpPr>
        <p:spPr>
          <a:xfrm>
            <a:off x="5760720" y="1051560"/>
            <a:ext cx="29260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1188720"/>
            <a:ext cx="2560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Lo esencial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Vr = −(Vg + 2·Vhw)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R6 = R4 = 20 kΩ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R6 = 2·R5 (R5 = 10 kΩ)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Resultado: Vr = |Vg|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6118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1 %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tolerancia de R2 a R6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Etapa 3 · Detector de pico</a:t>
            </a:r>
            <a:endParaRPr lang="en-US" sz="3000" dirty="0"/>
          </a:p>
        </p:txBody>
      </p:sp>
      <p:sp>
        <p:nvSpPr>
          <p:cNvPr id="3" name="Etapa 3"/>
          <p:cNvSpPr/>
          <p:nvPr/>
        </p:nvSpPr>
        <p:spPr>
          <a:xfrm>
            <a:off x="8229600" y="365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365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pic>
        <p:nvPicPr>
          <p:cNvPr id="5" name="Cálculo detector" descr="/home/claude/informe_latex/figuras/calc_det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716" y="1051560"/>
            <a:ext cx="4223208" cy="3840480"/>
          </a:xfrm>
          <a:prstGeom prst="rect">
            <a:avLst/>
          </a:prstGeom>
        </p:spPr>
      </p:pic>
      <p:sp>
        <p:nvSpPr>
          <p:cNvPr id="6" name="Tarjeta Lo esencial"/>
          <p:cNvSpPr/>
          <p:nvPr/>
        </p:nvSpPr>
        <p:spPr>
          <a:xfrm>
            <a:off x="5029200" y="1051560"/>
            <a:ext cx="365760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12080" y="118872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Lo esencial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τ = R9·C1 = 100 kΩ · 1 µF = 100 ms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Ventana válida: 90–110 ms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Buffer: τ no depende de R8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100 ms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029200" y="3977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constante de descarga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0,1 ms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3977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constante de carga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τ fija la frecuencia cardiaca máxima</a:t>
            </a:r>
            <a:endParaRPr lang="en-US" sz="3000" dirty="0"/>
          </a:p>
        </p:txBody>
      </p:sp>
      <p:graphicFrame>
        <p:nvGraphicFramePr>
          <p:cNvPr id="3" name="Grafica FCmax" descr=""/>
          <p:cNvGraphicFramePr/>
          <p:nvPr/>
        </p:nvGraphicFramePr>
        <p:xfrm>
          <a:off x="365760" y="100584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Fórmula"/>
          <p:cNvSpPr/>
          <p:nvPr/>
        </p:nvSpPr>
        <p:spPr>
          <a:xfrm>
            <a:off x="6309360" y="100584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92240" y="114300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Fórmula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FCmax = 60 / (w + τ·ln(Vp/VTL))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163 lpm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límite con 2 Vpp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Etapa 4 · Comparador Schmitt</a:t>
            </a:r>
            <a:endParaRPr lang="en-US" sz="3000" dirty="0"/>
          </a:p>
        </p:txBody>
      </p:sp>
      <p:sp>
        <p:nvSpPr>
          <p:cNvPr id="3" name="Etapa 4"/>
          <p:cNvSpPr/>
          <p:nvPr/>
        </p:nvSpPr>
        <p:spPr>
          <a:xfrm>
            <a:off x="8229600" y="365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0" y="365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pic>
        <p:nvPicPr>
          <p:cNvPr id="5" name="Cálculo Schmitt" descr="/home/claude/informe_latex/figuras/calc_schmi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9267" y="1005840"/>
            <a:ext cx="3642027" cy="3977640"/>
          </a:xfrm>
          <a:prstGeom prst="rect">
            <a:avLst/>
          </a:prstGeom>
        </p:spPr>
      </p:pic>
      <p:sp>
        <p:nvSpPr>
          <p:cNvPr id="6" name="Tarjeta Lo esencial"/>
          <p:cNvSpPr/>
          <p:nvPr/>
        </p:nvSpPr>
        <p:spPr>
          <a:xfrm>
            <a:off x="4389120" y="1005840"/>
            <a:ext cx="429768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0" y="1143000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Lo esencial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 = R10/R11 = 0,0233 (430 kΩ)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Vref = 0,75 V (R12 = 15 kΩ, R13 = 1 kΩ)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389120" y="3108960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1,01 V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37947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VTH (dispara)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852160" y="3108960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0,52 V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37947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VTL (libera)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31089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0,49 V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7947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histéresis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Simulación en Proteus</a:t>
            </a:r>
            <a:endParaRPr lang="en-US" sz="3000" dirty="0"/>
          </a:p>
        </p:txBody>
      </p:sp>
      <p:pic>
        <p:nvPicPr>
          <p:cNvPr id="3" name="Captura Pulso 1 V · 0,5 Hz" descr="/home/claude/informe_latex/figuras/proteus_pul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59238"/>
            <a:ext cx="2651760" cy="26021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206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Pulso 1 V · 0,5 Hz</a:t>
            </a:r>
            <a:endParaRPr lang="en-US" sz="1400" dirty="0"/>
          </a:p>
        </p:txBody>
      </p:sp>
      <p:pic>
        <p:nvPicPr>
          <p:cNvPr id="5" name="Captura Seno 2 Vpp · 0,5 Hz" descr="/home/claude/informe_latex/figuras/proteus_se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239232"/>
            <a:ext cx="2651760" cy="264217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200400" y="4206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Seno 2 Vpp · 0,5 Hz</a:t>
            </a:r>
            <a:endParaRPr lang="en-US" sz="1400" dirty="0"/>
          </a:p>
        </p:txBody>
      </p:sp>
      <p:pic>
        <p:nvPicPr>
          <p:cNvPr id="7" name="Captura Latido sintético" descr="/home/claude/informe_latex/figuras/proteus_ec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6011"/>
            <a:ext cx="2651760" cy="254861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035040" y="4206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Latido sintético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36576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Amarillo: entrada · Azul: Vr · Rosa: Venv · Verde: salida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Simulación vs cálculo</a:t>
            </a:r>
            <a:endParaRPr lang="en-US" sz="3000" dirty="0"/>
          </a:p>
        </p:txBody>
      </p:sp>
      <p:sp>
        <p:nvSpPr>
          <p:cNvPr id="3" name="Dato 0"/>
          <p:cNvSpPr/>
          <p:nvPr/>
        </p:nvSpPr>
        <p:spPr>
          <a:xfrm>
            <a:off x="457200" y="1280160"/>
            <a:ext cx="187452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5087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4,90 V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945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pico de Vr (calc. 4,90 V)</a:t>
            </a:r>
            <a:endParaRPr lang="en-US" sz="1300" dirty="0"/>
          </a:p>
        </p:txBody>
      </p:sp>
      <p:sp>
        <p:nvSpPr>
          <p:cNvPr id="6" name="Dato 1"/>
          <p:cNvSpPr/>
          <p:nvPr/>
        </p:nvSpPr>
        <p:spPr>
          <a:xfrm>
            <a:off x="2560320" y="1280160"/>
            <a:ext cx="187452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5087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400 ms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945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ancho de salida (calc. 405 ms)</a:t>
            </a:r>
            <a:endParaRPr lang="en-US" sz="1300" dirty="0"/>
          </a:p>
        </p:txBody>
      </p:sp>
      <p:sp>
        <p:nvSpPr>
          <p:cNvPr id="9" name="Dato 2"/>
          <p:cNvSpPr/>
          <p:nvPr/>
        </p:nvSpPr>
        <p:spPr>
          <a:xfrm>
            <a:off x="4663440" y="1280160"/>
            <a:ext cx="187452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5087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945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pulsos por ciclo con seno</a:t>
            </a:r>
            <a:endParaRPr lang="en-US" sz="1300" dirty="0"/>
          </a:p>
        </p:txBody>
      </p:sp>
      <p:sp>
        <p:nvSpPr>
          <p:cNvPr id="12" name="Dato 3"/>
          <p:cNvSpPr/>
          <p:nvPr/>
        </p:nvSpPr>
        <p:spPr>
          <a:xfrm>
            <a:off x="6766560" y="1280160"/>
            <a:ext cx="187452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5087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≤ 1,6 %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1945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error máximo</a:t>
            </a:r>
            <a:endParaRPr lang="en-US" sz="1300" dirty="0"/>
          </a:p>
        </p:txBody>
      </p:sp>
      <p:sp>
        <p:nvSpPr>
          <p:cNvPr id="15" name="Tarjeta Pendiente en el laboratorio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747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Pendiente en el laboratorio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Medir τ, VTH, VTL y offset en el montaje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Conclusiones</a:t>
            </a:r>
            <a:endParaRPr lang="en-US" sz="3000" dirty="0"/>
          </a:p>
        </p:txBody>
      </p:sp>
      <p:sp>
        <p:nvSpPr>
          <p:cNvPr id="3" name="Punto 1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18872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Polaridad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El rectificador de precisión detecta ondas R positivas y negativas</a:t>
            </a:r>
            <a:endParaRPr lang="en-US" sz="1800" dirty="0"/>
          </a:p>
        </p:txBody>
      </p:sp>
      <p:sp>
        <p:nvSpPr>
          <p:cNvPr id="6" name="Punto 2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5740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Un pulso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El detector de pico funde el QRS; τ = 100 ms es el parámetro crítico</a:t>
            </a:r>
            <a:endParaRPr lang="en-US" sz="1800" dirty="0"/>
          </a:p>
        </p:txBody>
      </p:sp>
      <p:sp>
        <p:nvSpPr>
          <p:cNvPr id="9" name="Punto 3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92608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Sin rebotes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histéresis del Schmitt da transiciones limpias</a:t>
            </a:r>
            <a:endParaRPr lang="en-US" sz="1800" dirty="0"/>
          </a:p>
        </p:txBody>
      </p:sp>
      <p:sp>
        <p:nvSpPr>
          <p:cNvPr id="12" name="Punto 4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7947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Validado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Proteus coincide con el cálculo (error ≤ 1,6 %)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G Clinico">
  <a:themeElements>
    <a:clrScheme name="ECG Clinico">
      <a:dk1>
        <a:srgbClr val="17242F"/>
      </a:dk1>
      <a:lt1>
        <a:srgbClr val="FFFFFF"/>
      </a:lt1>
      <a:dk2>
        <a:srgbClr val="0F2A3D"/>
      </a:dk2>
      <a:lt2>
        <a:srgbClr val="EEF4F5"/>
      </a:lt2>
      <a:accent1>
        <a:srgbClr val="0E8C88"/>
      </a:accent1>
      <a:accent2>
        <a:srgbClr val="E4572E"/>
      </a:accent2>
      <a:accent3>
        <a:srgbClr val="5B7A8C"/>
      </a:accent3>
      <a:accent4>
        <a:srgbClr val="9DC9C6"/>
      </a:accent4>
      <a:accent5>
        <a:srgbClr val="F2B134"/>
      </a:accent5>
      <a:accent6>
        <a:srgbClr val="2F4858"/>
      </a:accent6>
      <a:hlink>
        <a:srgbClr val="0E8C88"/>
      </a:hlink>
      <a:folHlink>
        <a:srgbClr val="5B7A8C"/>
      </a:folHlink>
    </a:clrScheme>
    <a:fontScheme name="ECG Clinic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Detector de latido ECG con amplificadores operacionales</dc:title>
  <dc:subject>PptxGenJS Presentation</dc:subject>
  <dc:creator>Brahiam Alberto Campiño Romero</dc:creator>
  <cp:lastModifiedBy>Brahiam Alberto Campiño Romero</cp:lastModifiedBy>
  <cp:revision>1</cp:revision>
  <dcterms:created xsi:type="dcterms:W3CDTF">2026-10-08T00:37:59Z</dcterms:created>
  <dcterms:modified xsi:type="dcterms:W3CDTF">2026-10-08T00:37:59Z</dcterms:modified>
</cp:coreProperties>
</file>